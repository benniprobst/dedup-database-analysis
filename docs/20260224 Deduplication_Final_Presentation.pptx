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34"/>
    <p:sldId id="263" r:id="rId9"/>
    <p:sldId id="282" r:id="rId35"/>
    <p:sldId id="264" r:id="rId10"/>
    <p:sldId id="283" r:id="rId36"/>
    <p:sldId id="284" r:id="rId37"/>
    <p:sldId id="285" r:id="rId38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7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226E69-B9A4-480A-83B1-9A395CE1731D}" v="4" dt="2026-02-24T06:57:00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50" d="100"/>
          <a:sy n="250" d="100"/>
        </p:scale>
        <p:origin x="18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-Elias Probst" userId="ed3c63fefcac5ed3" providerId="LiveId" clId="{4D0D08F5-47D1-4615-B1A3-9EACB94514F4}"/>
    <pc:docChg chg="undo custSel modSld">
      <pc:chgData name="Benjamin-Elias Probst" userId="ed3c63fefcac5ed3" providerId="LiveId" clId="{4D0D08F5-47D1-4615-B1A3-9EACB94514F4}" dt="2026-02-24T07:06:41.349" v="72" actId="1076"/>
      <pc:docMkLst>
        <pc:docMk/>
      </pc:docMkLst>
      <pc:sldChg chg="modSp mod">
        <pc:chgData name="Benjamin-Elias Probst" userId="ed3c63fefcac5ed3" providerId="LiveId" clId="{4D0D08F5-47D1-4615-B1A3-9EACB94514F4}" dt="2026-02-24T06:55:42.753" v="1" actId="14100"/>
        <pc:sldMkLst>
          <pc:docMk/>
          <pc:sldMk cId="0" sldId="269"/>
        </pc:sldMkLst>
        <pc:spChg chg="mod">
          <ac:chgData name="Benjamin-Elias Probst" userId="ed3c63fefcac5ed3" providerId="LiveId" clId="{4D0D08F5-47D1-4615-B1A3-9EACB94514F4}" dt="2026-02-24T06:55:38.109" v="0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5:42.753" v="1" actId="14100"/>
          <ac:spMkLst>
            <pc:docMk/>
            <pc:sldMk cId="0" sldId="269"/>
            <ac:spMk id="9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6:55:56.794" v="3" actId="14100"/>
        <pc:sldMkLst>
          <pc:docMk/>
          <pc:sldMk cId="0" sldId="273"/>
        </pc:sldMkLst>
        <pc:spChg chg="mod">
          <ac:chgData name="Benjamin-Elias Probst" userId="ed3c63fefcac5ed3" providerId="LiveId" clId="{4D0D08F5-47D1-4615-B1A3-9EACB94514F4}" dt="2026-02-24T06:55:52.616" v="2" actId="14100"/>
          <ac:spMkLst>
            <pc:docMk/>
            <pc:sldMk cId="0" sldId="273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5:56.794" v="3" actId="14100"/>
          <ac:spMkLst>
            <pc:docMk/>
            <pc:sldMk cId="0" sldId="273"/>
            <ac:spMk id="9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6:56:05.275" v="4" actId="14100"/>
        <pc:sldMkLst>
          <pc:docMk/>
          <pc:sldMk cId="0" sldId="274"/>
        </pc:sldMkLst>
        <pc:spChg chg="mod">
          <ac:chgData name="Benjamin-Elias Probst" userId="ed3c63fefcac5ed3" providerId="LiveId" clId="{4D0D08F5-47D1-4615-B1A3-9EACB94514F4}" dt="2026-02-24T06:56:05.275" v="4" actId="14100"/>
          <ac:spMkLst>
            <pc:docMk/>
            <pc:sldMk cId="0" sldId="274"/>
            <ac:spMk id="12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7:06:41.349" v="72" actId="1076"/>
        <pc:sldMkLst>
          <pc:docMk/>
          <pc:sldMk cId="0" sldId="275"/>
        </pc:sldMkLst>
        <pc:spChg chg="mod">
          <ac:chgData name="Benjamin-Elias Probst" userId="ed3c63fefcac5ed3" providerId="LiveId" clId="{4D0D08F5-47D1-4615-B1A3-9EACB94514F4}" dt="2026-02-24T07:06:06.446" v="67" actId="14100"/>
          <ac:spMkLst>
            <pc:docMk/>
            <pc:sldMk cId="0" sldId="275"/>
            <ac:spMk id="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06.446" v="67" actId="14100"/>
          <ac:spMkLst>
            <pc:docMk/>
            <pc:sldMk cId="0" sldId="275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10.014" v="68" actId="14100"/>
          <ac:spMkLst>
            <pc:docMk/>
            <pc:sldMk cId="0" sldId="275"/>
            <ac:spMk id="9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27.696" v="70" actId="14100"/>
          <ac:spMkLst>
            <pc:docMk/>
            <pc:sldMk cId="0" sldId="275"/>
            <ac:spMk id="10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22.202" v="69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41.349" v="72" actId="1076"/>
          <ac:spMkLst>
            <pc:docMk/>
            <pc:sldMk cId="0" sldId="275"/>
            <ac:spMk id="12" creationId="{00000000-0000-0000-0000-000000000000}"/>
          </ac:spMkLst>
        </pc:spChg>
      </pc:sldChg>
      <pc:sldChg chg="addSp modSp mod">
        <pc:chgData name="Benjamin-Elias Probst" userId="ed3c63fefcac5ed3" providerId="LiveId" clId="{4D0D08F5-47D1-4615-B1A3-9EACB94514F4}" dt="2026-02-24T06:57:56.756" v="20" actId="1076"/>
        <pc:sldMkLst>
          <pc:docMk/>
          <pc:sldMk cId="0" sldId="276"/>
        </pc:sldMkLst>
        <pc:spChg chg="mod">
          <ac:chgData name="Benjamin-Elias Probst" userId="ed3c63fefcac5ed3" providerId="LiveId" clId="{4D0D08F5-47D1-4615-B1A3-9EACB94514F4}" dt="2026-02-24T06:56:29.901" v="5" actId="255"/>
          <ac:spMkLst>
            <pc:docMk/>
            <pc:sldMk cId="0" sldId="276"/>
            <ac:spMk id="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6:29.901" v="5" actId="255"/>
          <ac:spMkLst>
            <pc:docMk/>
            <pc:sldMk cId="0" sldId="276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7:56.756" v="20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7:56.756" v="20" actId="107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6:42.153" v="7" actId="14100"/>
          <ac:spMkLst>
            <pc:docMk/>
            <pc:sldMk cId="0" sldId="276"/>
            <ac:spMk id="12" creationId="{00000000-0000-0000-0000-000000000000}"/>
          </ac:spMkLst>
        </pc:spChg>
        <pc:spChg chg="add mod">
          <ac:chgData name="Benjamin-Elias Probst" userId="ed3c63fefcac5ed3" providerId="LiveId" clId="{4D0D08F5-47D1-4615-B1A3-9EACB94514F4}" dt="2026-02-24T06:57:00.008" v="11" actId="571"/>
          <ac:spMkLst>
            <pc:docMk/>
            <pc:sldMk cId="0" sldId="276"/>
            <ac:spMk id="15" creationId="{BF3A2A0D-C794-6849-BEE6-D2C35DAFF419}"/>
          </ac:spMkLst>
        </pc:spChg>
        <pc:spChg chg="add mod">
          <ac:chgData name="Benjamin-Elias Probst" userId="ed3c63fefcac5ed3" providerId="LiveId" clId="{4D0D08F5-47D1-4615-B1A3-9EACB94514F4}" dt="2026-02-24T06:57:00.008" v="11" actId="571"/>
          <ac:spMkLst>
            <pc:docMk/>
            <pc:sldMk cId="0" sldId="276"/>
            <ac:spMk id="16" creationId="{65670E95-A2D4-8E70-2156-E5C532047F57}"/>
          </ac:spMkLst>
        </pc:spChg>
        <pc:spChg chg="add mod">
          <ac:chgData name="Benjamin-Elias Probst" userId="ed3c63fefcac5ed3" providerId="LiveId" clId="{4D0D08F5-47D1-4615-B1A3-9EACB94514F4}" dt="2026-02-24T06:56:59.241" v="10" actId="571"/>
          <ac:spMkLst>
            <pc:docMk/>
            <pc:sldMk cId="0" sldId="276"/>
            <ac:spMk id="17" creationId="{2A3F1F0A-4059-628F-92B3-DC9ED0B16B1C}"/>
          </ac:spMkLst>
        </pc:spChg>
        <pc:spChg chg="add mod">
          <ac:chgData name="Benjamin-Elias Probst" userId="ed3c63fefcac5ed3" providerId="LiveId" clId="{4D0D08F5-47D1-4615-B1A3-9EACB94514F4}" dt="2026-02-24T06:56:59.241" v="10" actId="571"/>
          <ac:spMkLst>
            <pc:docMk/>
            <pc:sldMk cId="0" sldId="276"/>
            <ac:spMk id="18" creationId="{1EEC62FE-AAE4-49F1-400B-D84F83DC077C}"/>
          </ac:spMkLst>
        </pc:spChg>
      </pc:sldChg>
      <pc:sldChg chg="modSp mod">
        <pc:chgData name="Benjamin-Elias Probst" userId="ed3c63fefcac5ed3" providerId="LiveId" clId="{4D0D08F5-47D1-4615-B1A3-9EACB94514F4}" dt="2026-02-24T07:01:18.481" v="43" actId="1076"/>
        <pc:sldMkLst>
          <pc:docMk/>
          <pc:sldMk cId="0" sldId="277"/>
        </pc:sldMkLst>
        <pc:spChg chg="mod">
          <ac:chgData name="Benjamin-Elias Probst" userId="ed3c63fefcac5ed3" providerId="LiveId" clId="{4D0D08F5-47D1-4615-B1A3-9EACB94514F4}" dt="2026-02-24T06:58:53.208" v="21" actId="255"/>
          <ac:spMkLst>
            <pc:docMk/>
            <pc:sldMk cId="0" sldId="277"/>
            <ac:spMk id="3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9:08.515" v="22" actId="255"/>
          <ac:spMkLst>
            <pc:docMk/>
            <pc:sldMk cId="0" sldId="277"/>
            <ac:spMk id="4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12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7:02:18.589" v="46" actId="255"/>
        <pc:sldMkLst>
          <pc:docMk/>
          <pc:sldMk cId="0" sldId="278"/>
        </pc:sldMkLst>
        <pc:spChg chg="mod">
          <ac:chgData name="Benjamin-Elias Probst" userId="ed3c63fefcac5ed3" providerId="LiveId" clId="{4D0D08F5-47D1-4615-B1A3-9EACB94514F4}" dt="2026-02-24T07:01:51.796" v="44" actId="20577"/>
          <ac:spMkLst>
            <pc:docMk/>
            <pc:sldMk cId="0" sldId="278"/>
            <ac:spMk id="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2:18.589" v="46" actId="255"/>
          <ac:spMkLst>
            <pc:docMk/>
            <pc:sldMk cId="0" sldId="278"/>
            <ac:spMk id="25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7:05:29.008" v="62" actId="14100"/>
        <pc:sldMkLst>
          <pc:docMk/>
          <pc:sldMk cId="0" sldId="279"/>
        </pc:sldMkLst>
        <pc:spChg chg="mod">
          <ac:chgData name="Benjamin-Elias Probst" userId="ed3c63fefcac5ed3" providerId="LiveId" clId="{4D0D08F5-47D1-4615-B1A3-9EACB94514F4}" dt="2026-02-24T07:05:26.216" v="61" actId="14100"/>
          <ac:spMkLst>
            <pc:docMk/>
            <pc:sldMk cId="0" sldId="279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4:14.434" v="47" actId="255"/>
          <ac:spMkLst>
            <pc:docMk/>
            <pc:sldMk cId="0" sldId="279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5:29.008" v="62" actId="14100"/>
          <ac:spMkLst>
            <pc:docMk/>
            <pc:sldMk cId="0" sldId="279"/>
            <ac:spMk id="9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4:20.141" v="48" actId="255"/>
          <ac:spMkLst>
            <pc:docMk/>
            <pc:sldMk cId="0" sldId="279"/>
            <ac:spMk id="11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7:05:15.305" v="60" actId="1076"/>
        <pc:sldMkLst>
          <pc:docMk/>
          <pc:sldMk cId="0" sldId="280"/>
        </pc:sldMkLst>
        <pc:spChg chg="mod">
          <ac:chgData name="Benjamin-Elias Probst" userId="ed3c63fefcac5ed3" providerId="LiveId" clId="{4D0D08F5-47D1-4615-B1A3-9EACB94514F4}" dt="2026-02-24T07:04:50.780" v="54" actId="14100"/>
          <ac:spMkLst>
            <pc:docMk/>
            <pc:sldMk cId="0" sldId="280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4:47.314" v="53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4:58.548" v="55" actId="14100"/>
          <ac:spMkLst>
            <pc:docMk/>
            <pc:sldMk cId="0" sldId="280"/>
            <ac:spMk id="10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5:15.305" v="60" actId="1076"/>
          <ac:spMkLst>
            <pc:docMk/>
            <pc:sldMk cId="0" sldId="280"/>
            <ac:spMk id="1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24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TU Dresden module page (phase model, scope of the course):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definition/ratio framing for deduplication (bytes in/out): https://www.snia.org/sites/default/files/Understanding_Data_Deduplication_Ratios-20080718.pdf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dedup ratio framing: https://www.snia.org/sites/default/files/Understanding_Data_Deduplication_Ratios-20080718.pdf
- Kafka compaction (dirty ratio bounds duplicates): https://kafka.apache.org/30/generated/topic_config.html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TU Dresden module page (phases &amp; expected outputs):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storage/index mechanisms that can dedup entries (B-Tree posting lists): https://www.postgresql.org/docs/current/btree.html
- ClickHouse dedup at merge-time (ReplacingMergeTree): https://clickhouse.com/docs/engines/table-engines/mergetree-family/replacingmergetree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B-Tree deduplication: https://www.postgresql.org/docs/current/btree.html
- PostgreSQL TOAST strategies (compression/out-of-line): https://www.postgresql.org/docs/current/storage-toast.html
- MariaDB InnoDB compression options: https://mariadb.com/docs/server/server-usage/storage-engines/innodb/innodb-page-compression
- ClickHouse ReplacingMergeTree dedup-at-merge: https://clickhouse.com/docs/engines/table-engines/mergetree-family/replacingmergetree
- Kafka log compaction configs: https://kafka.apache.org/30/generated/topic_config.html
- CockroachDB MVCC GC TTL (gc.ttlseconds): https://www.cockroachlabs.com/docs/stable/architecture/storage-layer
- MinIO (no dedup by design): https://blog.min.io/myths-about-deduplication-and-compression/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B-Tree deduplication behavior: https://www.postgresql.org/docs/current/btree.html
- PostgreSQL TOAST strategies: https://www.postgresql.org/docs/current/storage-toast.html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ClickHouse: ReplacingMergeTree dedup happens only during merges: https://clickhouse.com/docs/engines/table-engines/mergetree-family/replacingmergetree
- CockroachDB: GC period via gc.ttlseconds, compaction for reclaim: https://www.cockroachlabs.com/docs/stable/architecture/storage-layer
- CockroachDB Row-Level TTL: https://www.cockroachlabs.com/docs/stable/row-level-ttl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Kafka log compaction config &amp; dirty ratio bound: https://kafka.apache.org/30/generated/topic_config.html
- Confluent description of Kafka log compaction: https://docs.confluent.io/kafka/design/log_compaction.html
- MinIO stance: no deduplication by design: https://blog.min.io/myths-about-deduplication-and-compression/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paper (throughput + latency metrics common in DB benchmarking):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ODROID-H4 Ultra specs (i3-N305): https://www.hardkernel.com/shop/odroid-h4-ultra/
- ODROID wiki hardware page: https://wiki.odroid.com/odroid-h4/hardware
- Samsung 860 EVO datasheet (seq read/write): https://download.semiconductor.samsung.com/resources/data-sheet/Samsung_SSD_860_EVO_Data_Sheet_Rev1.pdf
- Cisco Business 350 series datasheet (family): https://www.cisco.com/c/en/us/products/collateral/switches/business-350-series-managed-switches/datasheet-c78-744156.html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Talos releases (v1.12.4): https://github.com/siderolabs/talos/releases
- Longhorn 1.11.0 release announcement: https://longhorn.io/blog/
- GitLab patch release 18.8.4: https://about.gitlab.com/releases/2026/02/10/patch-release-gitlab-18-8-4-released/
- Kafka 4.2.0 release announcement: https://kafka.apache.org/blog/2026/01/14/apache-kafka-4.2.0-release-announcement/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metrics include longhorn_volume_actual_size_bytes per replica: https://longhorn.io/docs/latest/monitoring/metrics/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GH Archive dataset: https://www.gharchive.org/
- NASA Hubble Ultra Deep Field (imagery): https://science.nasa.gov/asset/hubble/the-hubble-ultra-deep-field/
- Blender Open Movies list: https://studio.blender.org/films/
- Project Gutenberg (public domain ebooks): https://www.gutenberg.org/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ClickHouse: OPTIMIZE is expensive and merge timing is background-driven: https://clickhouse.com/docs/engines/table-engines/mergetree-family/replacingmergetree
- CockroachDB: GC/compaction governs disk reclaim over time: https://www.cockroachlabs.com/docs/stable/architecture/storage-layer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paper for common performance metrics (throughput/latency):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uses throughput and latency percentiles; used as common DB benchmarking practice: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CockroachDB GC TTL governs when MVCC garbage becomes eligible: https://www.cockroachlabs.com/docs/stable/architecture/storage-layer
- ClickHouse: dedup and cleanup only at merge-time; OPTIMIZE can force merges but is costly: https://clickhouse.com/docs/engines/table-engines/mergetree-family/replacingmergetree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SNIA: dedup ratio as bytes in / bytes out: https://www.snia.org/sites/default/files/Understanding_Data_Deduplication_Ratios-20080718.pdf
- Longhorn metric longhorn_volume_actual_size_bytes: https://longhorn.io/docs/latest/monitoring/metrics/
- YCSB benchmarking metrics (throughput &amp; latency):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Module expectations (analysis + software evaluation + presentation):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343400"/>
            <a:ext cx="121916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22960" y="46177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“in the Core”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Data Systems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41248" y="5715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Final presentation • Analysis of a Research Topic (TU Dresden)</a:t>
            </a:r>
          </a:p>
          <a:p>
            <a:r>
              <a:t>Focus: physical deduplication effects + literature-backed experiment</a:t>
            </a:r>
          </a:p>
        </p:txBody>
      </p:sp>
      <p:sp>
        <p:nvSpPr>
          <p:cNvPr id="6" name="Text 3"/>
          <p:cNvSpPr/>
          <p:nvPr/>
        </p:nvSpPr>
        <p:spPr>
          <a:xfrm>
            <a:off x="841248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Benjamin Probst  •  Supervisor: Dr. Alexander Krause  •  Lecturer: Prof. Wolfgang Lehner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deduplication (in the physical sense)?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payloads are stored once, referenced many times — to reduce physical bytes on storage.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is a data-reduction technique that eliminates redundant copies of the same data by identifying equal byte sequences and storing a single physical instance with references.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“deduplication in the core” also includes *unintended* dedup-like effects (e.g., index posting lists, compaction removing older key versions, or compression exploiting repetition).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5394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0584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objects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0584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24028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224028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474720" y="5349240"/>
            <a:ext cx="105156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347472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70916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70916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55080" y="5440680"/>
            <a:ext cx="731520" cy="54864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223760" y="4892040"/>
            <a:ext cx="4069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406640" y="4983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06640" y="5349240"/>
            <a:ext cx="114300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406640" y="5532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8732520" y="5349240"/>
            <a:ext cx="114300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732520" y="5532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0012680" y="54406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A×3, B×1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vs. Compression vs. Compaction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“space-saving” mechanisms — but different levers and different guarantees.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154680"/>
            <a:ext cx="3611880" cy="32461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redundant *equal byte* sequences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once, reference many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trigger: ingestion or background merge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here: does physical size shrink?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3154680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data more compactly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different byte representation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transparent (page/column)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interacts with “dedup” outcomes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repeated patterns compress well).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41080" y="3154680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86968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/ GC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6968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storage structures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removes tombstones/old versions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deletes “real” over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(MVCC, log-structured systems)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where dedup-like effects appear.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63550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definition used in the experiment: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65562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“Deduplication effect” = measurable reduction of *physical bytes-on-disk* compared to logical payload bytes, including replication overhead.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deliverable &amp; research questions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Literature-driven analysis + one concrete experiment (TU Dresden “Analyse eines Forschungsthemas”).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154680"/>
            <a:ext cx="5440680" cy="27889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framing (what I must deliver)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4983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literature review (definitions, taxonomy, state of the art)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of existing software solutions (here: DB systems + storage layer)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concrete task statement and concept for follow-up work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interim talk: updated scope + experimental plan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3154680"/>
            <a:ext cx="4983480" cy="27889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675120" y="3291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questions (dedup “in the core”)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36118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Where can physical dedup-like effects occur (engine layer, compaction, indexing, storage)?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Which mechanisms are implemented in each system — and which are absent?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Under controlled workloads, how do duplicates change physical size, throughput and latency?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After delete/reset, when (and if) does space get reclaimed?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126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(my own work): an extensive feature matrix + a reproducible multi-DB experiment pipeline.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“deduplication” happen? (reduced layers)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layer supports dedup — focus on the layers where it realistically appears.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22960" y="310896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182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Application /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429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Semantics: keys, upserts, idempotency, delete semantics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0" y="32369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“Dedup” here is often *logical*, not physical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0584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Storage engine &amp; indexes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4251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Tuple/page layout, B-Tree/LSM structures, TOAST/LOB storage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40599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“unintended dedup” (e.g., index posting lists)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754880"/>
            <a:ext cx="10881360" cy="6858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05840" y="4828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Background rewrite (merge/compaction/GC)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5074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old versions, log compaction, merge-trees, vacuum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778240" y="488289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place where duplicates disappear over time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557784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005840" y="5650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Underlying storage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5897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replication (Longhorn), filesystem, snapshots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0" y="57058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amplify or hide effects; usually no semantic dedup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63276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omit “layers” where dedup rarely occurs in practice (e.g., pure networking).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(overview)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systems support which “dedup-like” mechanisms?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411480" y="3154680"/>
            <a:ext cx="11338560" cy="38404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32644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/ Feature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87452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9184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0916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4380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37844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3538728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02920" y="36301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data dedup (store once, ref many)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82880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4612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8076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1540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33272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3922776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502920" y="401421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Index-level dedup / posting lists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82880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4612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66344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08076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9808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91540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33272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1480" y="4306824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920" y="439826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Merge/compaction removes older duplicates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82880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24612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66344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08076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49808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91540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33272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11480" y="4690872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502920" y="47823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GC / tombstones reclaimed over time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82880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24612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66344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08076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49808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91540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033272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11480" y="5074920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502920" y="516636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key-compaction (keep latest per key)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82880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24612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466344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08076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749808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891540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33272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411480" y="5458968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8"/>
          <p:cNvSpPr/>
          <p:nvPr/>
        </p:nvSpPr>
        <p:spPr>
          <a:xfrm>
            <a:off x="502920" y="55504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page/row/column compression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82880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324612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466344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608076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749808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891540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1033272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411480" y="5843016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7"/>
          <p:cNvSpPr/>
          <p:nvPr/>
        </p:nvSpPr>
        <p:spPr>
          <a:xfrm>
            <a:off x="502920" y="59344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TTL affecting disk usage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182880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324612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466344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608076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749808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891540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1033272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9829800" y="5715000"/>
            <a:ext cx="2240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6"/>
          <p:cNvSpPr/>
          <p:nvPr/>
        </p:nvSpPr>
        <p:spPr>
          <a:xfrm>
            <a:off x="9966960" y="5760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9966960" y="5943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  ◐ partial   — no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79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PostgreSQL (relational)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physical “dedup-like” effects can arise in Postgres.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1" descr="/mnt/data/dedup_mont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5303520" cy="3154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0" y="3200400"/>
            <a:ext cx="4892040" cy="14173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6629400" y="33375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Index-level dedup (B-Tree posting lists)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629400" y="36576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can represent many duplicates in B-Tree leaf pages as posting list tuples.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occurs lazily when inserts cannot fit and cleanup cannot free enough space.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can reduce index bloat for low-cardinality keys.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0" y="4709160"/>
            <a:ext cx="4892040" cy="1737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6629400" y="48463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values: TOAST + compression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29400" y="516636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stores large attributes out-of-line and may compress them (default strategy EXTENDED).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compression, not dedup — but it changes physical size and interacts with duplicate ratios.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variants: with/without TOAST compression strategy.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A1E5A"/>
                </a:solidFill>
                <a:latin typeface="Calibri"/>
              </a:rPr>
              <a:t>Deep dive: ClickHouse (MergeTree family)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555555"/>
                </a:solidFill>
                <a:latin typeface="Calibri"/>
              </a:rPr>
              <a:t>Physical ‘dedup’ effects come from background merges, replacement semantics and insert-time block deduplication.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15087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Storage layout &amp; compression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Immutable parts on disk (columns + marks); background merges rewrite parts.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Per-column compression codecs (e.g., LZ4/ZSTD, delta) change physical bytes.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Physical size is step-wise and depends on merge progress and part granularity.</a:t>
            </a:r>
          </a:p>
        </p:txBody>
      </p:sp>
      <p:sp>
        <p:nvSpPr>
          <p:cNvPr id="9" name="Shape 6"/>
          <p:cNvSpPr/>
          <p:nvPr/>
        </p:nvSpPr>
        <p:spPr>
          <a:xfrm>
            <a:off x="777240" y="4892040"/>
            <a:ext cx="5669280" cy="17830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05840" y="5029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Deduplication-like mechanisms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53492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ReplacingMergeTree / Collapsing* can eliminate logical duplicates during merges.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ReplicatedMergeTree can deduplicate repeated inserts (block-level tokens/IDs).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Experiment: compare engines + force merges (OPTIMIZE … FINAL) to observe size lag.</a:t>
            </a:r>
          </a:p>
        </p:txBody>
      </p:sp>
      <p:sp>
        <p:nvSpPr>
          <p:cNvPr id="12" name="Shape 9"/>
          <p:cNvSpPr/>
          <p:nvPr/>
        </p:nvSpPr>
        <p:spPr>
          <a:xfrm>
            <a:off x="6675120" y="3246120"/>
            <a:ext cx="457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858000" y="33649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0A1E5A"/>
                </a:solidFill>
                <a:latin typeface="Calibri"/>
              </a:rPr>
              <a:t>Time axis (size effects)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749040"/>
            <a:ext cx="4206240" cy="0"/>
          </a:xfrm>
          <a:prstGeom prst="line">
            <a:avLst/>
          </a:prstGeom>
          <a:noFill/>
          <a:ln w="254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7086600" y="3639312"/>
            <a:ext cx="219456" cy="219456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67512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Calibri"/>
              </a:rPr>
              <a:t>INSERT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49640" y="3639312"/>
            <a:ext cx="219456" cy="219456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13816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Calibri"/>
              </a:rPr>
              <a:t>OPTIMIZE / MERGE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29800" y="3639312"/>
            <a:ext cx="219456" cy="219456"/>
          </a:xfrm>
          <a:prstGeom prst="ellipse">
            <a:avLst/>
          </a:prstGeom>
          <a:solidFill>
            <a:srgbClr val="1B8E3E"/>
          </a:solidFill>
          <a:ln w="12700">
            <a:solidFill>
              <a:srgbClr val="1B8E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41832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Calibri"/>
              </a:rPr>
              <a:t>Dedup visible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0" y="5669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i="1">
                <a:solidFill>
                  <a:srgbClr val="555555"/>
                </a:solidFill>
                <a:latin typeface="Calibri"/>
              </a:rPr>
              <a:t>Size changes are delayed: merges run asynchronously; short runs may look like “no dedup/shrink”.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9/30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A1E5A"/>
                </a:solidFill>
                <a:latin typeface="Calibri"/>
              </a:rPr>
              <a:t>Deep dive: Kafka (log compaction)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555555"/>
                </a:solidFill>
                <a:latin typeface="Calibri"/>
              </a:rPr>
              <a:t>Key-compaction is semantic “deduplication”: the broker keeps the latest record per key, but only after the log cleaner runs.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37490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Log storage (segments)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3291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Append-only log split into segments; size grows immediately on produce.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Deletes are tombstones; retention removes old segments later.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Compression is per-batch (lz4/zstd) and reduces physical bytes directly.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3246120"/>
            <a:ext cx="32918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Compaction (“dedup”)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703320"/>
            <a:ext cx="2834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cleanup.policy=compact keeps the latest record per key.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Cleaner rewrites segments when enough “dirty” data accumulates.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Aggressive test knobs: low dirty ratio, short segment.ms/bytes, short delete.retention.ms.</a:t>
            </a:r>
          </a:p>
        </p:txBody>
      </p:sp>
      <p:sp>
        <p:nvSpPr>
          <p:cNvPr id="12" name="Shape 9"/>
          <p:cNvSpPr/>
          <p:nvPr/>
        </p:nvSpPr>
        <p:spPr>
          <a:xfrm>
            <a:off x="8229600" y="3246120"/>
            <a:ext cx="30632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458200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Experiment implications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3703320"/>
            <a:ext cx="2606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Expect step-wise size drops after cleaner passes; time-to-compact is a metric.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Duplicates across topics/buckets are not deduped (scope is per-topic log).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Measure end-to-end latency vs broker-side metrics when available.</a:t>
            </a:r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11/30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plan (factorial, reproducible)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stages × datasets × duplicate ratios × feature toggles × cache states.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33375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Databases: PostgreSQL, MariaDB, ClickHouse, CockroachDB, Kafka, Redis, MinIO (+ Comdare planned)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Payload types: timestamps, integers, random strings/VARCHAR, JSON, BLOB (images/video), full-text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ratios: 0%, 50%, 90%, 95%, 99% (byte-identical)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Scope: duplicates within same schema/topic/bucket AND across different 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volumes: 1 GB, 5 GB, 10 GB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Cache: warm + cold (DB cache reset per run)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Variants: engine-specific toggles (e.g., ClickHouse engines, Postgres TOAST modes, Kafka compaction tuning, Cockroach TTL)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33375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variables (what we measure)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bytes over time (Longhorn metric per replica)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Logical bytes (payload)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 Data Reduction (EDR): cluster-level and per-replica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Throughput (MB/s) + file rate (files/s)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distribution: mean, p50, p90, p95, p99, 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Delete/reclaim behavior: logical delete vs physical no-shrink, plus optional refill test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repeated 3×; raw time series + averaged summaries are stored as CSV and visualized in Grafana.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15/30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Testbed: hardware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Odroid H4 Ultra nodes + managed switch + SSD-backed storage.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440680" cy="3429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 (×4)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4983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ODROID-H4 Ultra (Intel Core i3-N305, 8 cores)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RAM: 16 GB (DDR5 SO-DIMM)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2× Samsung 860 EVO 2 TB SSD (plus swap partition)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Network: 2.5GbE capable per node (cluster currently limited by switch uplink profile)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3246120"/>
            <a:ext cx="4800600" cy="3429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720840" y="33832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20840" y="3703320"/>
            <a:ext cx="4343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family: Cisco Business CBS350 series (managed)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constraint: 1 Gbit/s effective per port (explicitly discussed as limitation)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Implication: network-bound workloads (Kafka/MinIO) may saturate earlier than CPU/SSD.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32 GB swap is a dedicated swap partition; test data sizes remain below RAM, swap mainly supports compilation workloads.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16/30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Testbed: software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hosts + Talos VM Kubernetes + Longhorn + GitLab CI + Grafana.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76072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layout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303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nodes: Proxmox bare metal; 2 nodes: Ubuntu Desktop bare metal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host runs a Talos OS VM (1 per node) that forms the Kubernetes cluster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Stateful DB pods are spread across all nodes (replica=4)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Longhorn persistent volumes (replica=4) used for all DBs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452628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4944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+ observability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49440" y="3703320"/>
            <a:ext cx="4069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GitLab (CE/EE) + GitLab Runner on Kubernetes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triggers DB integration tests and exports CSV results into repo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Grafana visualizes CSV time series and aggregates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app: C++ loader running inside the cluster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(as deployed): Talos v1.12.4, Longhorn v1.11.0, GitLab v18.8.4, Apache Kafka v4.2.0.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17/30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pipeline (end-to-end)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GitLab CI trigger → DB load → metrics → CSV → Grafana.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22960" y="34290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22960" y="35387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(run-id, params)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24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06324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on K8s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 job)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3429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349240" y="35387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Loader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 workload)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04672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(Longhorn + DB)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378440" y="34290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378440" y="353872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Grafana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880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166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781812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1014984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22960" y="4617720"/>
            <a:ext cx="603504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051560" y="47548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51560" y="507492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Size-over-time: sample every 100 ms via Longhorn Prometheus metrics (per replica)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Latency: DB-side timing if available; otherwise end-to-end from the C++ client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natural overheads (the system measures itself), but document them as artifacts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86600" y="4617720"/>
            <a:ext cx="480060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315200" y="47548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315200" y="507492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 run with full parameterization (DB, dataset, dup-ratio, cache state, variant).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reads repo CSV and overlays: raw series + averaged summaries.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18/30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(reproducible inputs)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structured + semi-structured + binary media; duplicates are byte-identical.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2880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available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event logs (GH Archive)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transactions (internal anonymized sample)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numbers / UUID streams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objects (fixed serialization)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stress different internal paths: WAL, indexes, LOB storage, compaction.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2880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media + text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NASA / ESA imagery (e.g., Hubble Ultra Deep Field)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Blender Open Movies (Big Buck Bunny, Sintel, Tears of Steel)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Public-domain novels (Project Gutenberg)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Additional binary datasets from Kaggle (for large BLOB tests)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37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SQL-test datatypes beyond the obvious: BOOLEAN/bit-fields and DECIMAL/NUMERIC (to trigger different encodings + index behavior).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19/30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stages (per DB, per dataset)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3-stage structure for comparability; all stages measured.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337560"/>
            <a:ext cx="36118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Bulk insert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 as efficiently as possible (DB-specific best practice).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throughput, latency, physical size growth.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3337560"/>
            <a:ext cx="36118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84632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Per-file insert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each file/object individually (stress metadata/index overhead).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latency distribution + file rate.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3337560"/>
            <a:ext cx="3611880" cy="29718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80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Delete + reclaim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items one-by-one; run maintenance if available (vacuum/optimize/compaction).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space reclaim + delete cost.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6446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run: soft reset (drop schema/topic/bucket) while PVCs remain (customer-data constraint).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20/30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details: bulk insert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baseline ingestion performance + initial physical growth behavior.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14400" y="3429000"/>
            <a:ext cx="103784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loader (DB best practice)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 / batch INSERT (Postgres)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 load (ClickHouse)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produce (Kafka)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multipart upload (MinIO)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4160520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83680" y="3657600"/>
            <a:ext cx="4572000" cy="2331720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41148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Throughput (MB/s)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(per batch)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bytes over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EDR after load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21/30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details: per-file/object inserts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stress metadata, indexing, and small-write paths.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14400" y="3429000"/>
            <a:ext cx="103784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loop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file/object: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write(payload)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latency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 size (100 ms)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4160520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83680" y="3657600"/>
            <a:ext cx="4572000" cy="2331720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distribution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41148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mean, p50, p90, p95, p99, 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files/s and MB/s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natural overheads; we only *document* them as artifacts.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22/30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details: delete + reclaim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distinguish logical delete from real physical space reclamation.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30556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variants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 one-by-one (baseline)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reset (drop schema/topic/bucket)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Truncate vs drop (where available)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Refill test: delete → refill to detect “not really deleted” behavior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DB-specific maintenance (examples):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Postgres: VACUUM / VACUUM FULL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ClickHouse: OPTIMIZE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Kafka: compaction tuning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CockroachDB: GC TTL / Row TTL settings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3055619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“reclaim” means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space “coming back” only via physical size at the storage layer (Longhorn per replica).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systems may keep free space internally and reuse it later (no shrink).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behavior is part of the research question: when do bytes-on-disk actually decrease?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23/30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(EDR, size-over-time, latency)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EDR includes replication overhead; per-replica EDR is reported additionally.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Data Reduction (EDR)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B_logical = total payload bytes written.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B_phys_cluster = Σ physical bytes across Longhorn replicas.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Cluster-EDR = B_logical / B_phys_cluster (includes replication overhead).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Replica-EDR = B_logical / (B_phys_cluster / N) where N = replica count (N=4).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size source of truth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longhorn_volume_actual_size_bytes to read actual disk usage per replica and node.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relying on DB internal “logical size” counters only.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5440680"/>
            <a:ext cx="10972800" cy="1097279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05840" y="5577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plots (per run)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5897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Physical size over time (100 ms sampling) + event markers (insert/delete/maintenance)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Latency distribution (mean, p50, p90, p95, p99, max)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Throughput MB/s + files/s over time and aggregated averages (3 repeats)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24/30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Experiment implementation: repository &amp; components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What is already implemented and how it maps to the three-stage experiment.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76072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Repository layout (</a:t>
            </a:r>
            <a:r>
              <a:rPr sz="1400" dirty="0" err="1"/>
              <a:t>dedup</a:t>
            </a:r>
            <a:r>
              <a:rPr sz="1400" dirty="0"/>
              <a:t>-database-analysis)</a:t>
            </a:r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303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• </a:t>
            </a:r>
            <a:r>
              <a:rPr sz="1400" dirty="0" err="1"/>
              <a:t>src</a:t>
            </a:r>
            <a:r>
              <a:rPr sz="1400" dirty="0"/>
              <a:t>/</a:t>
            </a:r>
            <a:r>
              <a:rPr sz="1400" dirty="0" err="1"/>
              <a:t>cpp</a:t>
            </a:r>
            <a:r>
              <a:rPr sz="1400" dirty="0"/>
              <a:t>/ — C++ experiment runner (</a:t>
            </a:r>
            <a:r>
              <a:rPr sz="1400" dirty="0" err="1"/>
              <a:t>dedup</a:t>
            </a:r>
            <a:r>
              <a:rPr sz="1400" dirty="0"/>
              <a:t>-test), DB connectors, metrics trace</a:t>
            </a:r>
          </a:p>
          <a:p>
            <a:r>
              <a:rPr sz="1400" dirty="0"/>
              <a:t>• infrastructure/ — K8s manifests / Helm values (DBs, Longhorn, monitoring)</a:t>
            </a:r>
          </a:p>
          <a:p>
            <a:r>
              <a:rPr sz="1400" dirty="0"/>
              <a:t>• sessions/ — cluster setup notes (Talos, Longhorn, GitLab)</a:t>
            </a:r>
          </a:p>
          <a:p>
            <a:r>
              <a:rPr sz="1400" dirty="0"/>
              <a:t>• .</a:t>
            </a:r>
            <a:r>
              <a:rPr sz="1400" dirty="0" err="1"/>
              <a:t>gitlab-ci.yml</a:t>
            </a:r>
            <a:r>
              <a:rPr sz="1400" dirty="0"/>
              <a:t> — CI orchestration (deploy → run → export → commit)</a:t>
            </a:r>
          </a:p>
          <a:p>
            <a:r>
              <a:rPr sz="1400" dirty="0"/>
              <a:t>• </a:t>
            </a:r>
            <a:r>
              <a:rPr sz="1400" dirty="0" err="1"/>
              <a:t>measurement_results</a:t>
            </a:r>
            <a:r>
              <a:rPr sz="1400" dirty="0"/>
              <a:t>/ — versioned CSV/JSON outputs (Grafana reads from repo)</a:t>
            </a:r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452628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071360" y="3446142"/>
            <a:ext cx="26250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Core components (implemented)</a:t>
            </a:r>
          </a:p>
        </p:txBody>
      </p:sp>
      <p:sp>
        <p:nvSpPr>
          <p:cNvPr id="11" name="Text 8"/>
          <p:cNvSpPr/>
          <p:nvPr/>
        </p:nvSpPr>
        <p:spPr>
          <a:xfrm>
            <a:off x="7071360" y="3855336"/>
            <a:ext cx="3977640" cy="2295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• </a:t>
            </a:r>
            <a:r>
              <a:rPr sz="1400" dirty="0" err="1"/>
              <a:t>dedup</a:t>
            </a:r>
            <a:r>
              <a:rPr sz="1400" dirty="0"/>
              <a:t>-test --generate-data: reproducible U0/U50/U90 datasets (+ real-world imports)</a:t>
            </a:r>
          </a:p>
          <a:p>
            <a:r>
              <a:rPr sz="1400" dirty="0"/>
              <a:t>• </a:t>
            </a:r>
            <a:r>
              <a:rPr sz="1400" dirty="0" err="1"/>
              <a:t>SchemaManager</a:t>
            </a:r>
            <a:r>
              <a:rPr sz="1400" dirty="0"/>
              <a:t>: isolated schema/topic/bucket per run (</a:t>
            </a:r>
            <a:r>
              <a:rPr sz="1400" dirty="0" err="1"/>
              <a:t>lab_user</a:t>
            </a:r>
            <a:r>
              <a:rPr sz="1400" dirty="0"/>
              <a:t>, no customer impact)</a:t>
            </a:r>
          </a:p>
          <a:p>
            <a:r>
              <a:rPr sz="1400" dirty="0"/>
              <a:t>• </a:t>
            </a:r>
            <a:r>
              <a:rPr sz="1400" dirty="0" err="1"/>
              <a:t>DataLoader</a:t>
            </a:r>
            <a:r>
              <a:rPr sz="1400" dirty="0"/>
              <a:t>: Stage 1 bulk • Stage 2 per-file • Stage 3 delete &amp; refill checks</a:t>
            </a:r>
          </a:p>
          <a:p>
            <a:r>
              <a:rPr sz="1400" dirty="0"/>
              <a:t>• </a:t>
            </a:r>
            <a:r>
              <a:rPr sz="1400" dirty="0" err="1"/>
              <a:t>MetricsTrace</a:t>
            </a:r>
            <a:r>
              <a:rPr sz="1400" dirty="0"/>
              <a:t> (100 </a:t>
            </a:r>
            <a:r>
              <a:rPr sz="1400" dirty="0" err="1"/>
              <a:t>ms</a:t>
            </a:r>
            <a:r>
              <a:rPr sz="1400" dirty="0"/>
              <a:t>): size-over-time (Longhorn/Prometheus) + event markers → Kafka</a:t>
            </a:r>
          </a:p>
          <a:p>
            <a:r>
              <a:rPr sz="1400" dirty="0"/>
              <a:t>• </a:t>
            </a:r>
            <a:r>
              <a:rPr sz="1400" dirty="0" err="1"/>
              <a:t>ResultsExporter</a:t>
            </a:r>
            <a:r>
              <a:rPr sz="1400" dirty="0"/>
              <a:t>: per-run CSV + aggregated JSON (Grafana/plots-ready)</a:t>
            </a:r>
          </a:p>
        </p:txBody>
      </p:sp>
      <p:sp>
        <p:nvSpPr>
          <p:cNvPr id="12" name="Text 9"/>
          <p:cNvSpPr/>
          <p:nvPr/>
        </p:nvSpPr>
        <p:spPr>
          <a:xfrm>
            <a:off x="960120" y="5431534"/>
            <a:ext cx="5303520" cy="10264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Status note: </a:t>
            </a:r>
            <a:r>
              <a:rPr sz="1400" dirty="0" err="1"/>
              <a:t>Comdare</a:t>
            </a:r>
            <a:r>
              <a:rPr sz="1400" dirty="0"/>
              <a:t> DB is planned; current pipeline covers PostgreSQL, MariaDB, Kafka, Redis, </a:t>
            </a:r>
            <a:r>
              <a:rPr sz="1400" dirty="0" err="1"/>
              <a:t>MinIO</a:t>
            </a:r>
            <a:r>
              <a:rPr sz="1400" dirty="0"/>
              <a:t>, </a:t>
            </a:r>
            <a:r>
              <a:rPr sz="1400" dirty="0" err="1"/>
              <a:t>ClickHouse</a:t>
            </a:r>
            <a:r>
              <a:rPr sz="1400" dirty="0"/>
              <a:t>, and </a:t>
            </a:r>
            <a:r>
              <a:rPr sz="1400" dirty="0" err="1"/>
              <a:t>CockroachDB</a:t>
            </a:r>
            <a:r>
              <a:rPr sz="1400" dirty="0"/>
              <a:t>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25/30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Experiment runner CLI: reproducible parameterization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A single binary (</a:t>
            </a:r>
            <a:r>
              <a:rPr sz="1400" dirty="0" err="1"/>
              <a:t>dedup</a:t>
            </a:r>
            <a:r>
              <a:rPr sz="1400" dirty="0"/>
              <a:t>-test) + </a:t>
            </a:r>
            <a:r>
              <a:rPr sz="1400" dirty="0" err="1"/>
              <a:t>config.json</a:t>
            </a:r>
            <a:r>
              <a:rPr sz="1400" dirty="0"/>
              <a:t> defines datasets, stages, and metrics.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658368" y="3242310"/>
            <a:ext cx="10378440" cy="32644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41248" y="3333751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 err="1"/>
              <a:t>dedup</a:t>
            </a:r>
            <a:r>
              <a:rPr dirty="0"/>
              <a:t>-test: key commands (excerpt)</a:t>
            </a:r>
          </a:p>
        </p:txBody>
      </p:sp>
      <p:sp>
        <p:nvSpPr>
          <p:cNvPr id="8" name="Text 5"/>
          <p:cNvSpPr/>
          <p:nvPr/>
        </p:nvSpPr>
        <p:spPr>
          <a:xfrm>
            <a:off x="841248" y="3619501"/>
            <a:ext cx="4846320" cy="2793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Generate datasets:</a:t>
            </a:r>
          </a:p>
          <a:p>
            <a:r>
              <a:rPr sz="1400" dirty="0"/>
              <a:t>  </a:t>
            </a:r>
            <a:r>
              <a:rPr sz="1400" dirty="0" err="1"/>
              <a:t>dedup</a:t>
            </a:r>
            <a:r>
              <a:rPr sz="1400" dirty="0"/>
              <a:t>-test --generate-data --output-</a:t>
            </a:r>
            <a:r>
              <a:rPr sz="1400" dirty="0" err="1"/>
              <a:t>dir</a:t>
            </a:r>
            <a:r>
              <a:rPr sz="1400" dirty="0"/>
              <a:t> /</a:t>
            </a:r>
            <a:r>
              <a:rPr sz="1400" dirty="0" err="1"/>
              <a:t>tmp</a:t>
            </a:r>
            <a:r>
              <a:rPr sz="1400" dirty="0"/>
              <a:t>/datasets/</a:t>
            </a:r>
          </a:p>
          <a:p>
            <a:r>
              <a:rPr sz="1400" dirty="0"/>
              <a:t>            --payload-types </a:t>
            </a:r>
            <a:r>
              <a:rPr sz="1400" dirty="0" err="1"/>
              <a:t>random_binary</a:t>
            </a:r>
            <a:r>
              <a:rPr sz="1400" dirty="0"/>
              <a:t> </a:t>
            </a:r>
            <a:r>
              <a:rPr sz="1400" dirty="0" err="1"/>
              <a:t>structured_json</a:t>
            </a:r>
            <a:r>
              <a:rPr sz="1400" dirty="0"/>
              <a:t> </a:t>
            </a:r>
            <a:r>
              <a:rPr sz="1400" dirty="0" err="1"/>
              <a:t>text_document</a:t>
            </a:r>
            <a:r>
              <a:rPr sz="1400" dirty="0"/>
              <a:t> ...</a:t>
            </a:r>
          </a:p>
          <a:p>
            <a:r>
              <a:rPr sz="1400" dirty="0"/>
              <a:t>            --dup-grades u0 u50 u90</a:t>
            </a:r>
          </a:p>
          <a:p>
            <a:endParaRPr sz="1400" dirty="0"/>
          </a:p>
          <a:p>
            <a:r>
              <a:rPr sz="1400" dirty="0"/>
              <a:t>Run one stage:</a:t>
            </a:r>
          </a:p>
          <a:p>
            <a:r>
              <a:rPr sz="1400" dirty="0"/>
              <a:t>  </a:t>
            </a:r>
            <a:r>
              <a:rPr sz="1400" dirty="0" err="1"/>
              <a:t>dedup</a:t>
            </a:r>
            <a:r>
              <a:rPr sz="1400" dirty="0"/>
              <a:t>-test --run --</a:t>
            </a:r>
            <a:r>
              <a:rPr sz="1400" dirty="0" err="1"/>
              <a:t>db</a:t>
            </a:r>
            <a:r>
              <a:rPr sz="1400" dirty="0"/>
              <a:t> </a:t>
            </a:r>
            <a:r>
              <a:rPr sz="1400" dirty="0" err="1"/>
              <a:t>postgres</a:t>
            </a:r>
            <a:r>
              <a:rPr sz="1400" dirty="0"/>
              <a:t> --stage 2 --payload </a:t>
            </a:r>
            <a:r>
              <a:rPr sz="1400" dirty="0" err="1"/>
              <a:t>structured_json</a:t>
            </a:r>
            <a:r>
              <a:rPr sz="1400" dirty="0"/>
              <a:t> --dup-grade u90</a:t>
            </a:r>
          </a:p>
          <a:p>
            <a:endParaRPr sz="1400" dirty="0"/>
          </a:p>
          <a:p>
            <a:r>
              <a:rPr sz="1400" dirty="0"/>
              <a:t>Export results:</a:t>
            </a:r>
          </a:p>
          <a:p>
            <a:r>
              <a:rPr sz="1400" dirty="0"/>
              <a:t>  results/&lt;</a:t>
            </a:r>
            <a:r>
              <a:rPr sz="1400" dirty="0" err="1"/>
              <a:t>db</a:t>
            </a:r>
            <a:r>
              <a:rPr sz="1400" dirty="0"/>
              <a:t>&gt;/run-*/metrics_trace.csv • stage_summaries.csv • </a:t>
            </a:r>
            <a:r>
              <a:rPr sz="1400" dirty="0" err="1"/>
              <a:t>summary.json</a:t>
            </a:r>
            <a:endParaRPr sz="1400" dirty="0"/>
          </a:p>
        </p:txBody>
      </p:sp>
      <p:sp>
        <p:nvSpPr>
          <p:cNvPr id="9" name="Shape 6"/>
          <p:cNvSpPr/>
          <p:nvPr/>
        </p:nvSpPr>
        <p:spPr>
          <a:xfrm>
            <a:off x="5733288" y="3973831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327648" y="3315463"/>
            <a:ext cx="4572000" cy="2978658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510528" y="3385571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/>
              <a:t>Run dimensions (per DB)</a:t>
            </a:r>
          </a:p>
        </p:txBody>
      </p:sp>
      <p:sp>
        <p:nvSpPr>
          <p:cNvPr id="12" name="Text 9"/>
          <p:cNvSpPr/>
          <p:nvPr/>
        </p:nvSpPr>
        <p:spPr>
          <a:xfrm>
            <a:off x="6541008" y="3653791"/>
            <a:ext cx="4297680" cy="2398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• Data size: 1 GB • 5 GB • 10 GB</a:t>
            </a:r>
          </a:p>
          <a:p>
            <a:r>
              <a:rPr sz="1400" dirty="0"/>
              <a:t>• Duplicate ratio (byte-equal): U0 • U50 • U90 (implemented) → planned U95/U99</a:t>
            </a:r>
          </a:p>
          <a:p>
            <a:r>
              <a:rPr sz="1400" dirty="0"/>
              <a:t>• Placement: same vs different schema/topic/bucket (cross-namespace duplicates)</a:t>
            </a:r>
          </a:p>
          <a:p>
            <a:r>
              <a:rPr sz="1400" dirty="0"/>
              <a:t>• Cache modes: warm + cold (DB pod restart + cache wipe DaemonSet)</a:t>
            </a:r>
          </a:p>
          <a:p>
            <a:r>
              <a:rPr sz="1400" dirty="0"/>
              <a:t>• DB variants: VACUUM/TTL/compaction/page-compression/engine type (best-practice configs)</a:t>
            </a:r>
          </a:p>
          <a:p>
            <a:r>
              <a:rPr sz="1400" dirty="0"/>
              <a:t>• Repetitions: 3 full repeats → mean + dispersion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26/30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Automation: GitLab CI orchestration (Kubernetes-native)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Build → deploy databases → run stages → export results → version-controlled dashboards.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22960" y="34290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22960" y="35387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/>
              <a:t>GitLab CI</a:t>
            </a:r>
          </a:p>
          <a:p>
            <a:r>
              <a:rPr dirty="0"/>
              <a:t>(matrix: </a:t>
            </a:r>
            <a:r>
              <a:rPr dirty="0" err="1"/>
              <a:t>db×payload×dup</a:t>
            </a:r>
            <a:r>
              <a:rPr dirty="0"/>
              <a:t>×</a:t>
            </a:r>
            <a:endParaRPr lang="de-DE" dirty="0"/>
          </a:p>
          <a:p>
            <a:r>
              <a:rPr dirty="0"/>
              <a:t>stage)</a:t>
            </a:r>
          </a:p>
        </p:txBody>
      </p:sp>
      <p:sp>
        <p:nvSpPr>
          <p:cNvPr id="8" name="Shape 5"/>
          <p:cNvSpPr/>
          <p:nvPr/>
        </p:nvSpPr>
        <p:spPr>
          <a:xfrm>
            <a:off x="306324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06324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GitLab Runner</a:t>
            </a:r>
          </a:p>
          <a:p>
            <a:r>
              <a:t>(K8s executor)</a:t>
            </a:r>
          </a:p>
        </p:txBody>
      </p:sp>
      <p:sp>
        <p:nvSpPr>
          <p:cNvPr id="10" name="Shape 7"/>
          <p:cNvSpPr/>
          <p:nvPr/>
        </p:nvSpPr>
        <p:spPr>
          <a:xfrm>
            <a:off x="5349240" y="3429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349240" y="35387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Deploy DBs</a:t>
            </a:r>
          </a:p>
          <a:p>
            <a:r>
              <a:t>(Helm, replica=4)</a:t>
            </a:r>
          </a:p>
        </p:txBody>
      </p:sp>
      <p:sp>
        <p:nvSpPr>
          <p:cNvPr id="12" name="Shape 9"/>
          <p:cNvSpPr/>
          <p:nvPr/>
        </p:nvSpPr>
        <p:spPr>
          <a:xfrm>
            <a:off x="804672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04672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Run dedup-test</a:t>
            </a:r>
          </a:p>
          <a:p>
            <a:r>
              <a:t>(stage 1–3)</a:t>
            </a:r>
          </a:p>
        </p:txBody>
      </p:sp>
      <p:sp>
        <p:nvSpPr>
          <p:cNvPr id="14" name="Shape 11"/>
          <p:cNvSpPr/>
          <p:nvPr/>
        </p:nvSpPr>
        <p:spPr>
          <a:xfrm>
            <a:off x="10378440" y="34290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378440" y="353872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Commit results</a:t>
            </a:r>
          </a:p>
          <a:p>
            <a:r>
              <a:t>+ Grafana views</a:t>
            </a:r>
          </a:p>
        </p:txBody>
      </p:sp>
      <p:sp>
        <p:nvSpPr>
          <p:cNvPr id="16" name="Shape 13"/>
          <p:cNvSpPr/>
          <p:nvPr/>
        </p:nvSpPr>
        <p:spPr>
          <a:xfrm>
            <a:off x="2880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166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781812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1014984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22960" y="4617720"/>
            <a:ext cx="603504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051560" y="47548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Key jobs (excerpt)</a:t>
            </a:r>
          </a:p>
        </p:txBody>
      </p:sp>
      <p:sp>
        <p:nvSpPr>
          <p:cNvPr id="22" name="Text 19"/>
          <p:cNvSpPr/>
          <p:nvPr/>
        </p:nvSpPr>
        <p:spPr>
          <a:xfrm>
            <a:off x="1051560" y="507492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dirty="0"/>
              <a:t>• experiment-build (container + </a:t>
            </a:r>
            <a:r>
              <a:rPr dirty="0" err="1"/>
              <a:t>dedup</a:t>
            </a:r>
            <a:r>
              <a:rPr dirty="0"/>
              <a:t>-test)</a:t>
            </a:r>
          </a:p>
          <a:p>
            <a:r>
              <a:rPr dirty="0"/>
              <a:t>• deploy-&lt;</a:t>
            </a:r>
            <a:r>
              <a:rPr dirty="0" err="1"/>
              <a:t>db</a:t>
            </a:r>
            <a:r>
              <a:rPr dirty="0"/>
              <a:t>&gt; + wait-for-&lt;</a:t>
            </a:r>
            <a:r>
              <a:rPr dirty="0" err="1"/>
              <a:t>db</a:t>
            </a:r>
            <a:r>
              <a:rPr dirty="0"/>
              <a:t>&gt; (replica=4)</a:t>
            </a:r>
          </a:p>
          <a:p>
            <a:r>
              <a:rPr dirty="0"/>
              <a:t>• experiment-run-&lt;</a:t>
            </a:r>
            <a:r>
              <a:rPr dirty="0" err="1"/>
              <a:t>db</a:t>
            </a:r>
            <a:r>
              <a:rPr dirty="0"/>
              <a:t>&gt; (Stage 1–3; payloads × dup grades)</a:t>
            </a:r>
          </a:p>
          <a:p>
            <a:r>
              <a:rPr dirty="0"/>
              <a:t>• upload-results (commit CSV/JSON back to the repo)</a:t>
            </a:r>
          </a:p>
        </p:txBody>
      </p:sp>
      <p:sp>
        <p:nvSpPr>
          <p:cNvPr id="23" name="Shape 20"/>
          <p:cNvSpPr/>
          <p:nvPr/>
        </p:nvSpPr>
        <p:spPr>
          <a:xfrm>
            <a:off x="7086600" y="4617720"/>
            <a:ext cx="480060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315200" y="47548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Isolation &amp; reset constraints</a:t>
            </a:r>
          </a:p>
        </p:txBody>
      </p:sp>
      <p:sp>
        <p:nvSpPr>
          <p:cNvPr id="25" name="Text 22"/>
          <p:cNvSpPr/>
          <p:nvPr/>
        </p:nvSpPr>
        <p:spPr>
          <a:xfrm>
            <a:off x="7315200" y="507492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200" dirty="0"/>
              <a:t>• All runs use </a:t>
            </a:r>
            <a:r>
              <a:rPr sz="1200" dirty="0" err="1"/>
              <a:t>lab_user</a:t>
            </a:r>
            <a:r>
              <a:rPr sz="1200" dirty="0"/>
              <a:t> and a dedicated schema/topic/bucket (customer data stays untouched)</a:t>
            </a:r>
          </a:p>
          <a:p>
            <a:r>
              <a:rPr sz="1200" dirty="0"/>
              <a:t>• “Soft reset”: schema/topic/bucket drop or truncate; PVCs stay (realistic fragmentation)</a:t>
            </a:r>
          </a:p>
          <a:p>
            <a:r>
              <a:rPr sz="1200" dirty="0"/>
              <a:t>• Each run stores a full Run-ID with all parameters (Grafana grouping)</a:t>
            </a:r>
          </a:p>
          <a:p>
            <a:r>
              <a:rPr sz="1200" dirty="0"/>
              <a:t>• Overheads are not removed (system-in-the-loop measurement)</a:t>
            </a:r>
          </a:p>
        </p:txBody>
      </p:sp>
      <p:sp>
        <p:nvSpPr>
          <p:cNvPr id="26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27/30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Instrumentation: metrics trace and exports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Physical size is observed at the storage layer; events annotate DB maintenance and compaction.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760720" cy="3090671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 err="1"/>
              <a:t>MetricsTrace</a:t>
            </a:r>
            <a:r>
              <a:rPr dirty="0"/>
              <a:t> (100 </a:t>
            </a:r>
            <a:r>
              <a:rPr dirty="0" err="1"/>
              <a:t>ms</a:t>
            </a:r>
            <a:r>
              <a:rPr dirty="0"/>
              <a:t> sampling)</a:t>
            </a:r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303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• Scrapes Prometheus for Longhorn volume metrics (e.g., </a:t>
            </a:r>
            <a:r>
              <a:rPr sz="1400" dirty="0" err="1"/>
              <a:t>actual_size_bytes</a:t>
            </a:r>
            <a:r>
              <a:rPr sz="1400" dirty="0"/>
              <a:t>)</a:t>
            </a:r>
          </a:p>
          <a:p>
            <a:r>
              <a:rPr sz="1400" dirty="0"/>
              <a:t>• Records size-over-time per replica (replica=4) and cluster-level overhead</a:t>
            </a:r>
          </a:p>
          <a:p>
            <a:r>
              <a:rPr sz="1400" dirty="0"/>
              <a:t>• Emits event markers: insert start/stop, delete, vacuum/optimize, compaction</a:t>
            </a:r>
          </a:p>
          <a:p>
            <a:r>
              <a:rPr sz="1400" dirty="0"/>
              <a:t>• Publishes time series + events to Kafka topics:</a:t>
            </a:r>
          </a:p>
          <a:p>
            <a:r>
              <a:rPr sz="1400" dirty="0"/>
              <a:t>  - </a:t>
            </a:r>
            <a:r>
              <a:rPr sz="1400" dirty="0" err="1"/>
              <a:t>dedup</a:t>
            </a:r>
            <a:r>
              <a:rPr sz="1400" dirty="0"/>
              <a:t>-lab-metrics</a:t>
            </a:r>
          </a:p>
          <a:p>
            <a:r>
              <a:rPr sz="1400" dirty="0"/>
              <a:t>  - </a:t>
            </a:r>
            <a:r>
              <a:rPr sz="1400" dirty="0" err="1"/>
              <a:t>dedup</a:t>
            </a:r>
            <a:r>
              <a:rPr sz="1400" dirty="0"/>
              <a:t>-lab-events</a:t>
            </a:r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4526280" cy="3090671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4944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Exports (CSV/JSON) + visualization</a:t>
            </a:r>
          </a:p>
        </p:txBody>
      </p:sp>
      <p:sp>
        <p:nvSpPr>
          <p:cNvPr id="11" name="Text 8"/>
          <p:cNvSpPr/>
          <p:nvPr/>
        </p:nvSpPr>
        <p:spPr>
          <a:xfrm>
            <a:off x="6949440" y="3703320"/>
            <a:ext cx="4069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• Time series CSV: </a:t>
            </a:r>
            <a:r>
              <a:rPr sz="1400" dirty="0" err="1"/>
              <a:t>timestamp_ms</a:t>
            </a:r>
            <a:r>
              <a:rPr sz="1400" dirty="0"/>
              <a:t>, </a:t>
            </a:r>
            <a:r>
              <a:rPr sz="1400" dirty="0" err="1"/>
              <a:t>db</a:t>
            </a:r>
            <a:r>
              <a:rPr sz="1400" dirty="0"/>
              <a:t>, stage, payload, </a:t>
            </a:r>
            <a:r>
              <a:rPr sz="1400" dirty="0" err="1"/>
              <a:t>dup_grade</a:t>
            </a:r>
            <a:r>
              <a:rPr sz="1400" dirty="0"/>
              <a:t>, replica, </a:t>
            </a:r>
            <a:r>
              <a:rPr sz="1400" dirty="0" err="1"/>
              <a:t>size_bytes</a:t>
            </a:r>
            <a:r>
              <a:rPr sz="1400" dirty="0"/>
              <a:t>, ...</a:t>
            </a:r>
          </a:p>
          <a:p>
            <a:r>
              <a:rPr sz="1400" dirty="0"/>
              <a:t>• Latency CSV (current): min/mean/p50/p95/p99/max (DB-side if available, else end-to-end)</a:t>
            </a:r>
          </a:p>
          <a:p>
            <a:r>
              <a:rPr sz="1400" dirty="0"/>
              <a:t>• Summary JSON: </a:t>
            </a:r>
            <a:r>
              <a:rPr sz="1400" dirty="0" err="1"/>
              <a:t>EDR_cluster</a:t>
            </a:r>
            <a:r>
              <a:rPr sz="1400" dirty="0"/>
              <a:t>, </a:t>
            </a:r>
            <a:r>
              <a:rPr sz="1400" dirty="0" err="1"/>
              <a:t>EDR_replica</a:t>
            </a:r>
            <a:r>
              <a:rPr sz="1400" dirty="0"/>
              <a:t>, throughput, maintenance outcome</a:t>
            </a:r>
          </a:p>
          <a:p>
            <a:r>
              <a:rPr sz="1400" dirty="0"/>
              <a:t>• Grafana loads dashboards + CSV directly from GitLab (results are version-controlled)</a:t>
            </a:r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Note: p90 and additional percentiles are a planned extension if required by the final evaluation standard.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28/30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Datasets and cadence in the implemented testbed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Mixed synthetic + public data sources with controlled duplicate ratios (byte-equal payloads).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14400" y="3429000"/>
            <a:ext cx="103784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Payload types (config-driven)</a:t>
            </a:r>
          </a:p>
        </p:txBody>
      </p:sp>
      <p:sp>
        <p:nvSpPr>
          <p:cNvPr id="8" name="Text 5"/>
          <p:cNvSpPr/>
          <p:nvPr/>
        </p:nvSpPr>
        <p:spPr>
          <a:xfrm>
            <a:off x="1097280" y="379857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Synthetic:</a:t>
            </a:r>
          </a:p>
          <a:p>
            <a:r>
              <a:rPr sz="1400" dirty="0"/>
              <a:t>  • </a:t>
            </a:r>
            <a:r>
              <a:rPr sz="1400" dirty="0" err="1"/>
              <a:t>random_binary</a:t>
            </a:r>
            <a:r>
              <a:rPr sz="1400" dirty="0"/>
              <a:t> • </a:t>
            </a:r>
            <a:r>
              <a:rPr sz="1400" dirty="0" err="1"/>
              <a:t>uuid_keys</a:t>
            </a:r>
            <a:r>
              <a:rPr sz="1400" dirty="0"/>
              <a:t> • </a:t>
            </a:r>
            <a:r>
              <a:rPr sz="1400" dirty="0" err="1"/>
              <a:t>structured_json</a:t>
            </a:r>
            <a:r>
              <a:rPr sz="1400" dirty="0"/>
              <a:t> • </a:t>
            </a:r>
            <a:r>
              <a:rPr sz="1400" dirty="0" err="1"/>
              <a:t>jsonb_documents</a:t>
            </a:r>
            <a:endParaRPr sz="1400" dirty="0"/>
          </a:p>
          <a:p>
            <a:r>
              <a:rPr sz="1400" dirty="0"/>
              <a:t>Structured:</a:t>
            </a:r>
          </a:p>
          <a:p>
            <a:r>
              <a:rPr sz="1400" dirty="0"/>
              <a:t>  • </a:t>
            </a:r>
            <a:r>
              <a:rPr sz="1400" dirty="0" err="1"/>
              <a:t>bank_transactions</a:t>
            </a:r>
            <a:r>
              <a:rPr sz="1400" dirty="0"/>
              <a:t> (CSV) • </a:t>
            </a:r>
            <a:r>
              <a:rPr sz="1400" dirty="0" err="1"/>
              <a:t>numeric_dataset</a:t>
            </a:r>
            <a:r>
              <a:rPr sz="1400" dirty="0"/>
              <a:t> (CSV)</a:t>
            </a:r>
          </a:p>
          <a:p>
            <a:r>
              <a:rPr sz="1400" dirty="0"/>
              <a:t>Text + events:</a:t>
            </a:r>
          </a:p>
          <a:p>
            <a:r>
              <a:rPr sz="1400" dirty="0"/>
              <a:t>  • </a:t>
            </a:r>
            <a:r>
              <a:rPr sz="1400" dirty="0" err="1"/>
              <a:t>text_corpus</a:t>
            </a:r>
            <a:r>
              <a:rPr sz="1400" dirty="0"/>
              <a:t> • </a:t>
            </a:r>
            <a:r>
              <a:rPr sz="1400" dirty="0" err="1"/>
              <a:t>gutenberg_text</a:t>
            </a:r>
            <a:r>
              <a:rPr sz="1400" dirty="0"/>
              <a:t> • </a:t>
            </a:r>
            <a:r>
              <a:rPr sz="1400" dirty="0" err="1"/>
              <a:t>github_events</a:t>
            </a:r>
            <a:r>
              <a:rPr sz="1400" dirty="0"/>
              <a:t> (GH Archive)</a:t>
            </a:r>
          </a:p>
          <a:p>
            <a:r>
              <a:rPr sz="1400" dirty="0"/>
              <a:t>Media:</a:t>
            </a:r>
          </a:p>
          <a:p>
            <a:r>
              <a:rPr sz="1400" dirty="0"/>
              <a:t>  • </a:t>
            </a:r>
            <a:r>
              <a:rPr sz="1400" dirty="0" err="1"/>
              <a:t>nasa_image</a:t>
            </a:r>
            <a:r>
              <a:rPr sz="1400" dirty="0"/>
              <a:t> (HUDF TIFF) • </a:t>
            </a:r>
            <a:r>
              <a:rPr sz="1400" dirty="0" err="1"/>
              <a:t>blender_video</a:t>
            </a:r>
            <a:r>
              <a:rPr sz="1400" dirty="0"/>
              <a:t> (open movies) • Kaggle media (planned)</a:t>
            </a:r>
          </a:p>
        </p:txBody>
      </p:sp>
      <p:sp>
        <p:nvSpPr>
          <p:cNvPr id="9" name="Shape 6"/>
          <p:cNvSpPr/>
          <p:nvPr/>
        </p:nvSpPr>
        <p:spPr>
          <a:xfrm>
            <a:off x="5989320" y="4160520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83680" y="3657600"/>
            <a:ext cx="4572000" cy="2792730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Cadence / scheduling (per run)</a:t>
            </a:r>
          </a:p>
        </p:txBody>
      </p:sp>
      <p:sp>
        <p:nvSpPr>
          <p:cNvPr id="12" name="Text 9"/>
          <p:cNvSpPr/>
          <p:nvPr/>
        </p:nvSpPr>
        <p:spPr>
          <a:xfrm>
            <a:off x="6766560" y="4160520"/>
            <a:ext cx="4297680" cy="1964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/>
              <a:t>• Stage 1: bulk ingestion (COPY / batch SQL / multipart S3 / batch produce)</a:t>
            </a:r>
          </a:p>
          <a:p>
            <a:r>
              <a:rPr sz="1200" dirty="0"/>
              <a:t>• Stage 2: per-file loop (captures per-object latency distribution)</a:t>
            </a:r>
          </a:p>
          <a:p>
            <a:r>
              <a:rPr sz="1200" dirty="0"/>
              <a:t>• Stage 3: delete one-by-one + soft reset + maintenance; optional </a:t>
            </a:r>
            <a:r>
              <a:rPr sz="1200" dirty="0" err="1"/>
              <a:t>delete→refill</a:t>
            </a:r>
            <a:r>
              <a:rPr sz="1200" dirty="0"/>
              <a:t> check</a:t>
            </a:r>
          </a:p>
          <a:p>
            <a:r>
              <a:rPr sz="1200" dirty="0"/>
              <a:t>• Size sampling: 100 </a:t>
            </a:r>
            <a:r>
              <a:rPr sz="1200" dirty="0" err="1"/>
              <a:t>ms</a:t>
            </a:r>
            <a:r>
              <a:rPr sz="1200" dirty="0"/>
              <a:t> during all stages (size-over-time curves)</a:t>
            </a:r>
          </a:p>
          <a:p>
            <a:r>
              <a:rPr sz="1200" dirty="0"/>
              <a:t>• Default generator: 500 files × 512 KiB per payload (extendable to 1/5/10 GB)</a:t>
            </a:r>
          </a:p>
          <a:p>
            <a:r>
              <a:rPr sz="1200" dirty="0"/>
              <a:t>• DB-specific compaction windows (e.g., Kafka key-compaction tuned to minutes)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29/30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outlook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topic means, what we will deliver, and what remains open.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11064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“in the core” is not a single feature: in most DBs it emerges via indexing, compaction, and garbage collection — often delayed and workload-dependent.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deliverable is a literature-backed feature matrix + a reproducible experiment pipeline measuring *physical* bytes-on-disk, throughput, and latency across systems.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risk/limitation: PVCs persist (soft reset only), and 1 Gbit network can dominate Kafka/MinIO; both will be documented and mitigated where possible.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5285232"/>
            <a:ext cx="5486400" cy="1368169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51560" y="5422392"/>
            <a:ext cx="5025358" cy="390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 (this week)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5742432"/>
            <a:ext cx="5025358" cy="685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Finalize per-DB “cache reset” and “reset semantics” procedures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DB-specific best-practice config variants (compaction/TTL/compression)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the full 1GB suite (all DBs × dup ratios × warm/cold)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37960" y="5284089"/>
            <a:ext cx="5394960" cy="136931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66560" y="542124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96735" y="5741288"/>
            <a:ext cx="4892040" cy="6861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Comdare DB (planned)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analysis on compaction/space amplification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 CPU affinity to reduce measurement interference (future work)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30/30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A1E5A"/>
                </a:solidFill>
                <a:latin typeface="Calibri"/>
              </a:rPr>
              <a:t>Deep dive: MariaDB (InnoDB)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555555"/>
                </a:solidFill>
                <a:latin typeface="Calibri"/>
              </a:rPr>
              <a:t>InnoDB does not implement general deduplication; “dedup-like” effects come from indexes, page compression and space-reuse behavior.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37490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Storage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3291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Rows in a clustered B+tree (primary key order) stored in fixed-size pages.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Redo + undo logs; purge removes old versions asynchronously.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Secondary indexes store PK references; duplicates inflate index pages.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3246120"/>
            <a:ext cx="32918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Compression &amp; compact forms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703320"/>
            <a:ext cx="2834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ROW_FORMAT=COMPRESSED / PAGE_COMPRESSED (best-effort, platform dependent).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Prefix compression in indexes can reduce repeated key prefixes.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Compression ≠ dedup, but it changes physical size vs duplicate ratios.</a:t>
            </a:r>
          </a:p>
        </p:txBody>
      </p:sp>
      <p:sp>
        <p:nvSpPr>
          <p:cNvPr id="12" name="Shape 9"/>
          <p:cNvSpPr/>
          <p:nvPr/>
        </p:nvSpPr>
        <p:spPr>
          <a:xfrm>
            <a:off x="8229600" y="3246120"/>
            <a:ext cx="30632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458200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Deletes &amp; shrinking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3703320"/>
            <a:ext cx="2606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DELETE marks records; space is often reused but file size may not shrink.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Reclaim may need table rebuild (OPTIMIZE TABLE / ALTER TABLE) depending on tablespace.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Experiment: compare “truncate/reset” vs soft deletes and observe size-over-time.</a:t>
            </a:r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8/30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A1E5A"/>
                </a:solidFill>
                <a:latin typeface="Calibri"/>
              </a:rPr>
              <a:t>Deep dive: CockroachDB (MVCC + GC)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555555"/>
                </a:solidFill>
                <a:latin typeface="Calibri"/>
              </a:rPr>
              <a:t>Logical overwrites create new MVCC versions; physical space is reclaimed only after GC and compaction.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15087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MVCC key-value storage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Distributed SQL layer on top of a KV store; keys encode table/index + primary key.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Each write creates a new MVCC version; old versions remain until garbage collection.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Storage engine uses sorted SSTables with block-level compression.</a:t>
            </a:r>
          </a:p>
        </p:txBody>
      </p:sp>
      <p:sp>
        <p:nvSpPr>
          <p:cNvPr id="9" name="Shape 6"/>
          <p:cNvSpPr/>
          <p:nvPr/>
        </p:nvSpPr>
        <p:spPr>
          <a:xfrm>
            <a:off x="777240" y="4892040"/>
            <a:ext cx="5669280" cy="17830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05840" y="5029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GC, TTL and compaction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53492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gc.ttlseconds controls MVCC GC horizon (zone config) and thus retained history.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Row-level TTL schedules deletes; compaction rewrites SSTables asynchronously.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Experiment: delete vs truncate; compare size lag and read/write latency.</a:t>
            </a:r>
          </a:p>
        </p:txBody>
      </p:sp>
      <p:sp>
        <p:nvSpPr>
          <p:cNvPr id="12" name="Shape 9"/>
          <p:cNvSpPr/>
          <p:nvPr/>
        </p:nvSpPr>
        <p:spPr>
          <a:xfrm>
            <a:off x="6675120" y="3246120"/>
            <a:ext cx="457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858000" y="33649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0A1E5A"/>
                </a:solidFill>
                <a:latin typeface="Calibri"/>
              </a:rPr>
              <a:t>Time axis (size effects)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749040"/>
            <a:ext cx="4206240" cy="0"/>
          </a:xfrm>
          <a:prstGeom prst="line">
            <a:avLst/>
          </a:prstGeom>
          <a:noFill/>
          <a:ln w="254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7086600" y="3639312"/>
            <a:ext cx="219456" cy="219456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67512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Calibri"/>
              </a:rPr>
              <a:t>INSERT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49640" y="3639312"/>
            <a:ext cx="219456" cy="219456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13816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Calibri"/>
              </a:rPr>
              <a:t>UPDATE / DELETE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29800" y="3639312"/>
            <a:ext cx="219456" cy="219456"/>
          </a:xfrm>
          <a:prstGeom prst="ellipse">
            <a:avLst/>
          </a:prstGeom>
          <a:solidFill>
            <a:srgbClr val="1B8E3E"/>
          </a:solidFill>
          <a:ln w="12700">
            <a:solidFill>
              <a:srgbClr val="1B8E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41832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Calibri"/>
              </a:rPr>
              <a:t>GC + compaction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0" y="5669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i="1">
                <a:solidFill>
                  <a:srgbClr val="555555"/>
                </a:solidFill>
                <a:latin typeface="Calibri"/>
              </a:rPr>
              <a:t>Expect delayed size drop; short tests may look like “no shrink” even when GC is configured.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10/30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A1E5A"/>
                </a:solidFill>
                <a:latin typeface="Calibri"/>
              </a:rPr>
              <a:t>Deep dive: Redis (in-memory key-value)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555555"/>
                </a:solidFill>
                <a:latin typeface="Calibri"/>
              </a:rPr>
              <a:t>Redis targets in-memory speed; “dedup-like” effects appear mainly via persistence compaction (AOF rewrite), not across keys.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37490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In-memory representation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3291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Values stored as objects with per-key overhead; small values use compact encodings.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No cross-key deduplication: byte-identical values still occupy separate memory.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Memory fragmentation can dominate “size” metrics in small clusters.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3246120"/>
            <a:ext cx="32918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Persistence (disk footprint)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703320"/>
            <a:ext cx="2834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RDB snapshots and/or Append-Only File (AOF) persist data to disk.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AOF rewrite compacts command history to the current dataset (log compaction).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Experiment: measure AOF growth vs rewrite intervals; warm vs cold restart.</a:t>
            </a:r>
          </a:p>
        </p:txBody>
      </p:sp>
      <p:sp>
        <p:nvSpPr>
          <p:cNvPr id="12" name="Shape 9"/>
          <p:cNvSpPr/>
          <p:nvPr/>
        </p:nvSpPr>
        <p:spPr>
          <a:xfrm>
            <a:off x="8229600" y="3246120"/>
            <a:ext cx="30632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458200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TTL &amp; eviction semantics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3703320"/>
            <a:ext cx="2606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Expiry removes keys; deletion may be lazy under load (lazyfree).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Eviction policy changes size/latency trade-offs under memory pressure.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Interpretation: storage depends on persistence mode and workload, not “physical dedup”.</a:t>
            </a:r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12/30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A1E5A"/>
                </a:solidFill>
                <a:latin typeface="Calibri"/>
              </a:rPr>
              <a:t>Deep dive: MinIO (S3 object storage)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555555"/>
                </a:solidFill>
                <a:latin typeface="Calibri"/>
              </a:rPr>
              <a:t>MinIO stores objects as immutable data blocks; it does not perform deduplication—any “dedup” is external (application/client/storage layer).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37490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Object layout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3291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Objects stored with metadata; multipart uploads create part objects.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Erasure coding / healing can add overhead and background I/O.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Physical bytes depend on object count, metadata, and encoding strategy.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3246120"/>
            <a:ext cx="32918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No dedup by design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703320"/>
            <a:ext cx="2834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Identical objects are stored multiple times unless the application avoids repeats.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Baseline expectation: EDR ≈ 1.0 (plus replication/erasure-coding overhead).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Test both same-bucket and cross-bucket duplicates (no cross-bucket dedup).</a:t>
            </a:r>
          </a:p>
        </p:txBody>
      </p:sp>
      <p:sp>
        <p:nvSpPr>
          <p:cNvPr id="12" name="Shape 9"/>
          <p:cNvSpPr/>
          <p:nvPr/>
        </p:nvSpPr>
        <p:spPr>
          <a:xfrm>
            <a:off x="8229600" y="3246120"/>
            <a:ext cx="30632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458200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Versioning &amp; delete markers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3703320"/>
            <a:ext cx="2606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Versioning keeps multiple object versions; deletes can become markers.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Lifecycle rules remove old versions asynchronously (delayed physical reclaim).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Experiment: delete + refill to detect “soft delete” vs physical deletion.</a:t>
            </a:r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13/30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A1E5A"/>
                </a:solidFill>
                <a:latin typeface="Calibri"/>
              </a:rPr>
              <a:t>Synthesis: where to expect physical size changes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555555"/>
                </a:solidFill>
                <a:latin typeface="Calibri"/>
              </a:rPr>
              <a:t>A ‘dedup signal’ in storage metrics can come from intentional dedup features, from compression, or from delayed reclamation mechanisms.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37490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Immediate effects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3291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Logical overwrites keep dataset size constant (same PK/key), but may still write new bytes.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Compression can reduce size immediately on write (DB-specific codecs).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Expect quicker effects in: PostgreSQL TOAST, Kafka compression, ClickHouse codecs.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3246120"/>
            <a:ext cx="32918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Deferred effects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703320"/>
            <a:ext cx="2834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Vacuum/GC/merges run asynchronously: size drops later (or never).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PostgreSQL vacuum, ClickHouse merges, CockroachDB GC+compaction, Redis AOF rewrite.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Time-to-reclaim becomes a metric itself (not just final size).</a:t>
            </a:r>
          </a:p>
        </p:txBody>
      </p:sp>
      <p:sp>
        <p:nvSpPr>
          <p:cNvPr id="12" name="Shape 9"/>
          <p:cNvSpPr/>
          <p:nvPr/>
        </p:nvSpPr>
        <p:spPr>
          <a:xfrm>
            <a:off x="8229600" y="3246120"/>
            <a:ext cx="30632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458200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A1E5A"/>
                </a:solidFill>
                <a:latin typeface="Calibri"/>
              </a:rPr>
              <a:t>No (or external) dedup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3703320"/>
            <a:ext cx="2606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>
                <a:solidFill>
                  <a:srgbClr val="111111"/>
                </a:solidFill>
                <a:latin typeface="Calibri"/>
              </a:rPr>
              <a:t>MinIO: no dedup; identical objects store repeatedly.</a:t>
            </a:r>
            <a:endParaRPr lang="en-US" sz="1200" dirty="0"/>
          </a:p>
          <a:p>
            <a:r>
              <a:rPr sz="1200">
                <a:solidFill>
                  <a:srgbClr val="111111"/>
                </a:solidFill>
                <a:latin typeface="Calibri"/>
              </a:rPr>
              <a:t>MariaDB: no general dedup; relies on compression + space reuse/rebuild.</a:t>
            </a:r>
          </a:p>
          <a:p>
            <a:r>
              <a:rPr sz="1200">
                <a:solidFill>
                  <a:srgbClr val="111111"/>
                </a:solidFill>
                <a:latin typeface="Calibri"/>
              </a:rPr>
              <a:t>Longhorn replication and filesystem effects can mask DB-level behavior.</a:t>
            </a:r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/>
              <a:t>14/30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5184</Words>
  <Application>Microsoft Office PowerPoint</Application>
  <PresentationFormat>Breitbild</PresentationFormat>
  <Paragraphs>492</Paragraphs>
  <Slides>25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 Probst</dc:creator>
  <cp:lastModifiedBy>Benjamin-Elias Probst</cp:lastModifiedBy>
  <cp:revision>1</cp:revision>
  <dcterms:created xsi:type="dcterms:W3CDTF">2026-02-18T13:15:38Z</dcterms:created>
  <dcterms:modified xsi:type="dcterms:W3CDTF">2026-02-24T07:06:41Z</dcterms:modified>
</cp:coreProperties>
</file>