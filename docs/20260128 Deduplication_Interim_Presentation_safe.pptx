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250" d="100"/>
          <a:sy n="250" d="100"/>
        </p:scale>
        <p:origin x="192" y="10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EDR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U0</c:v>
                </c:pt>
                <c:pt idx="1">
                  <c:v>U50</c:v>
                </c:pt>
                <c:pt idx="2">
                  <c:v>U90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1.05</c:v>
                </c:pt>
                <c:pt idx="2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5AD-4758-83EA-60BC31ABB29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.4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9025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ESA Hubble Ultra Deep Field image (background): https://www.esa.int/ESA_Multimedia/Images/2005/09/Hubble_s_ACS_close-up_view_of_Hubble_Ultra_Deep_Field (download link used)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Dedup definition baseline (SNIA): https://www.snia.org/sites/default/files/Understanding_Data_Deduplication_Ratios-20080718.pdf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SNIA definition of deduplication (sub-file level, unique data only): https://www.snia.org/sites/default/files/Understanding_Data_Deduplication_Ratios-20080718.pdf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SNIA on sub-file dedup vs. SIS: https://www.snia.org/sites/default/files/Understanding_Data_Deduplication_Ratios-20080718.pdf
- SNIA overview of SIS + fixed/variable block strategies: https://www.snia.org/educational-library/single-instance-strategies-storage-2007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LBFS (2001): https://www.cis.upenn.edu/~bcpierce/courses/dd/papers/lbfs.pdf
- Venti (FAST 2002): https://www.usenix.org/conference/fast-02/venti-new-approach-archival-data-storage
- Data Domain DDFS (FAST 2008): https://www.usenix.org/conference/fast-08/avoiding-disk-bottleneck-data-domain-deduplication-file-system
- Sparse Indexing (FAST 2009): https://www.usenix.org/event/fast09/tech/full_papers/lillibridge/lillibridge.pdf
- iDedup (FAST 2012): https://www.usenix.org/system/files/conference/fast12/srinivasan.pdf
- FastCDC (ATC 2016): https://www.usenix.org/system/files/conference/atc16/atc16-paper-xia.pdf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Longhorn concepts (synchronous replication across replicas/nodes): https://longhorn.io/docs/latest/concepts/
- Longhorn metric longhorn_volume_actual_size_bytes: https://longhorn.io/docs/latest/monitoring/metrics/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Longhorn replication across multiple replicas on multiple nodes: https://longhorn.io/docs/latest/concepts/
- Longhorn metric longhorn_volume_actual_size_bytes (actual space used by each replica): https://longhorn.io/docs/latest/monitoring/metrics/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ClickHouse academic overview / paper reference: https://clickhouse.com/docs/academic_overview
- CockroachDB SIGMOD paper: https://dl.acm.org/doi/10.1145/3318464.3386134
- Kafka topic config cleanup.policy (delete/compact): https://kafka.apache.org/30/generated/topic_config.html
- Confluent explanation of cleanup.policy and compaction: https://docs.confluent.io/platform/current/installation/configuration/topic-configs.html
- MinIO statement on not implementing deduplication: https://blog.min.io/myths-about-deduplication-and-compression/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NASA media usage guidelines (reuse): https://www.nasa.gov/nasa-brand-center/images-and-media/
- Hubble Ultra Deep Field image page (ESA): https://www.esa.int/ESA_Multimedia/Images/2005/09/Hubble_s_ACS_close-up_view_of_Hubble_Ultra_Deep_Field
- Big Buck Bunny poster (Wikimedia Commons / Blender Foundation, CC BY): https://upload.wikimedia.org/wikipedia/commons/thumb/c/c5/Big_buck_bunny_poster_big.jpg/1200px-Big_buck_bunny_poster_big.jpg
- Big Buck Bunny licensing info (Commons): https://commons.wikimedia.org/wiki/Big_Buck_Bunny
- Project Gutenberg license/terms: https://www.gutenberg.org/policy/license.html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Longhorn metrics (actual size per replica): https://longhorn.io/docs/latest/monitoring/metrics/
- Kafka topic cleanup.policy (delete vs compact): https://kafka.apache.org/30/generated/topic_config.html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Longhorn metric definition (actual size per replica): https://longhorn.io/docs/latest/monitoring/metrics/
- Longhorn replication concept (replicas on nodes): https://longhorn.io/docs/latest/concepts/
- PostgreSQL VACUUM FULL concept (official docs entry point): https://www.postgresql.org/docs/current/sql-vacuum.html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Kafka cleanup.policy definition (delete vs compact): https://kafka.apache.org/30/generated/topic_config.html
- MinIO “no deduplication” rationale: https://blog.min.io/myths-about-deduplication-and-compression/
- Longhorn concepts (replication, volume behavior): https://longhorn.io/docs/latest/concepts/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img_hudf.jpg"/>
          <p:cNvPicPr>
            <a:picLocks noChangeAspect="1"/>
          </p:cNvPicPr>
          <p:nvPr/>
        </p:nvPicPr>
        <p:blipFill>
          <a:blip r:embed="rId3">
            <a:alphaModFix amt="82000"/>
          </a:blip>
          <a:srcRect l="8447" r="8447"/>
          <a:stretch/>
        </p:blipFill>
        <p:spPr>
          <a:xfrm>
            <a:off x="6492240" y="0"/>
            <a:ext cx="569945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6492240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Text 1"/>
          <p:cNvSpPr/>
          <p:nvPr/>
        </p:nvSpPr>
        <p:spPr>
          <a:xfrm>
            <a:off x="640080" y="187452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Deduplication in Data Storage Systems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658368" y="269748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15-minute interim presentation — core concept &amp; experiment plan (Kubernetes/Longhorn)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58368" y="3154680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Dresden · Diplom Informatik (PO 2010) · Analysis of a Research Topic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58368" y="3794760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Benjamin-Elias Probst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411480" y="109728"/>
            <a:ext cx="8183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Deduplication — Interim Presentation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732520" y="146304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749808"/>
            <a:ext cx="2834640" cy="347472"/>
          </a:xfrm>
          <a:prstGeom prst="round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612648" y="804672"/>
            <a:ext cx="26151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Scope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23444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Guiding question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02920" y="1783080"/>
            <a:ext cx="5989320" cy="15544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731520" y="1947672"/>
            <a:ext cx="5532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is deduplication at the core?”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2286000"/>
            <a:ext cx="55321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operationalize the definition into measurable storage effects: Do byte-identical payloads lead to sub-linear physical storage growth, and where (DB vs. storage layer) does that effect originate?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56616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Today’s structure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85800" y="3977640"/>
            <a:ext cx="6126480" cy="1676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3520" indent="-22352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definition + boundaries vs. compression / SIS</a:t>
            </a:r>
            <a:endParaRPr lang="en-US" sz="1600" dirty="0"/>
          </a:p>
          <a:p>
            <a:pPr marL="223520" indent="-22352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Taxonomy &amp; key milestones (why it works / where it breaks)</a:t>
            </a:r>
            <a:endParaRPr lang="en-US" sz="1600" dirty="0"/>
          </a:p>
          <a:p>
            <a:pPr marL="223520" indent="-22352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setup on Kubernetes + Longhorn (replica=4)</a:t>
            </a:r>
            <a:endParaRPr lang="en-US" sz="1600" dirty="0"/>
          </a:p>
          <a:p>
            <a:pPr marL="223520" indent="-22352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Workloads, datasets, and metrics (ingest, physical size, reclamation)</a:t>
            </a:r>
            <a:endParaRPr lang="en-US" sz="1600" dirty="0"/>
          </a:p>
          <a:p>
            <a:pPr marL="223520" indent="-22352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observations + next steps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858000" y="1097280"/>
            <a:ext cx="5074920" cy="544068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7086600" y="132588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evolution (last 3 drafts)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178040" y="1737360"/>
            <a:ext cx="4572000" cy="1092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5580" indent="-19558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A: theory + taxonomy (dedup vs. compression)</a:t>
            </a:r>
            <a:endParaRPr lang="en-US" sz="1400" dirty="0"/>
          </a:p>
          <a:p>
            <a:pPr marL="195580" indent="-19558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B: cleaned English version + consistent citations</a:t>
            </a:r>
            <a:endParaRPr lang="en-US" sz="1400" dirty="0"/>
          </a:p>
          <a:p>
            <a:pPr marL="195580" indent="-19558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C (current): adds reproducible experiment plan and measurement model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411480" y="109728"/>
            <a:ext cx="8183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Deduplication — Interim Presentation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732520" y="146304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749808"/>
            <a:ext cx="2834640" cy="347472"/>
          </a:xfrm>
          <a:prstGeom prst="round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612648" y="804672"/>
            <a:ext cx="26151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Core concept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23444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Deduplication (core): store/transmit only unique chunks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02920" y="1719072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idea: detect byte-identical segments and replace repeats with references (sub-file level).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85800" y="2331720"/>
            <a:ext cx="3383280" cy="356616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868680" y="249631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Incoming data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005840" y="2971800"/>
            <a:ext cx="2743200" cy="411480"/>
          </a:xfrm>
          <a:prstGeom prst="roundRect">
            <a:avLst/>
          </a:prstGeom>
          <a:solidFill>
            <a:srgbClr val="93C5F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1005840" y="3044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05840" y="3474720"/>
            <a:ext cx="2743200" cy="411480"/>
          </a:xfrm>
          <a:prstGeom prst="roundRect">
            <a:avLst/>
          </a:prstGeom>
          <a:solidFill>
            <a:srgbClr val="FCA5A5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1005840" y="354787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05840" y="3977640"/>
            <a:ext cx="2743200" cy="411480"/>
          </a:xfrm>
          <a:prstGeom prst="roundRect">
            <a:avLst/>
          </a:prstGeom>
          <a:solidFill>
            <a:srgbClr val="FCA5A5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" name="Text 14"/>
          <p:cNvSpPr/>
          <p:nvPr/>
        </p:nvSpPr>
        <p:spPr>
          <a:xfrm>
            <a:off x="1005840" y="405079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005840" y="4480560"/>
            <a:ext cx="2743200" cy="411480"/>
          </a:xfrm>
          <a:prstGeom prst="roundRect">
            <a:avLst/>
          </a:prstGeom>
          <a:solidFill>
            <a:srgbClr val="86EFA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1005840" y="455371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005840" y="4983480"/>
            <a:ext cx="2743200" cy="411480"/>
          </a:xfrm>
          <a:prstGeom prst="roundRect">
            <a:avLst/>
          </a:prstGeom>
          <a:solidFill>
            <a:srgbClr val="FCA5A5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" name="Text 18"/>
          <p:cNvSpPr/>
          <p:nvPr/>
        </p:nvSpPr>
        <p:spPr>
          <a:xfrm>
            <a:off x="1005840" y="50566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663440" y="2560320"/>
            <a:ext cx="2788920" cy="132588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2" name="Text 20"/>
          <p:cNvSpPr/>
          <p:nvPr/>
        </p:nvSpPr>
        <p:spPr>
          <a:xfrm>
            <a:off x="4663440" y="2788920"/>
            <a:ext cx="2788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 +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fingerprints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663440" y="4160520"/>
            <a:ext cx="2788920" cy="15544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4" name="Text 22"/>
          <p:cNvSpPr/>
          <p:nvPr/>
        </p:nvSpPr>
        <p:spPr>
          <a:xfrm>
            <a:off x="4663440" y="4315968"/>
            <a:ext cx="2788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Index: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→ location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846320" y="507492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hash already exists → store reference only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818120" y="2560320"/>
            <a:ext cx="4297680" cy="310896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7" name="Text 25"/>
          <p:cNvSpPr/>
          <p:nvPr/>
        </p:nvSpPr>
        <p:spPr>
          <a:xfrm>
            <a:off x="7818120" y="2724912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store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138160" y="3246120"/>
            <a:ext cx="1097280" cy="502920"/>
          </a:xfrm>
          <a:prstGeom prst="roundRect">
            <a:avLst/>
          </a:prstGeom>
          <a:solidFill>
            <a:srgbClr val="93C5F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9" name="Text 27"/>
          <p:cNvSpPr/>
          <p:nvPr/>
        </p:nvSpPr>
        <p:spPr>
          <a:xfrm>
            <a:off x="8138160" y="335584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9372600" y="3246120"/>
            <a:ext cx="1097280" cy="502920"/>
          </a:xfrm>
          <a:prstGeom prst="roundRect">
            <a:avLst/>
          </a:prstGeom>
          <a:solidFill>
            <a:srgbClr val="FCA5A5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1" name="Text 29"/>
          <p:cNvSpPr/>
          <p:nvPr/>
        </p:nvSpPr>
        <p:spPr>
          <a:xfrm>
            <a:off x="9372600" y="335584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10607040" y="3246120"/>
            <a:ext cx="1097280" cy="502920"/>
          </a:xfrm>
          <a:prstGeom prst="roundRect">
            <a:avLst/>
          </a:prstGeom>
          <a:solidFill>
            <a:srgbClr val="86EFA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3" name="Text 31"/>
          <p:cNvSpPr/>
          <p:nvPr/>
        </p:nvSpPr>
        <p:spPr>
          <a:xfrm>
            <a:off x="10607040" y="335584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001000" y="397764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“B” blocks become references → physical growth slows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duplicates dominate (if dedup is present).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187952" y="3337560"/>
            <a:ext cx="384048" cy="457200"/>
          </a:xfrm>
          <a:prstGeom prst="rightArrow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6" name="Shape 34"/>
          <p:cNvSpPr/>
          <p:nvPr/>
        </p:nvSpPr>
        <p:spPr>
          <a:xfrm>
            <a:off x="7516368" y="3337560"/>
            <a:ext cx="256032" cy="457200"/>
          </a:xfrm>
          <a:prstGeom prst="rightArrow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411480" y="109728"/>
            <a:ext cx="8183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Deduplication — Interim Presentation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732520" y="146304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Taxonomy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749808"/>
            <a:ext cx="2834640" cy="347472"/>
          </a:xfrm>
          <a:prstGeom prst="round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612648" y="804672"/>
            <a:ext cx="26151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Taxonomy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234440"/>
            <a:ext cx="11338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can “deduplication” mean in practice?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02920" y="1719072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word — different design points. Our experiments must separate these dimensions.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2331720"/>
            <a:ext cx="3611880" cy="17830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731520" y="2496312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Granularity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2834640"/>
            <a:ext cx="31546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File-level (SIS) vs block/chunk-level; content-defined chunking helps with shifted inserts.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89120" y="2331720"/>
            <a:ext cx="3611880" cy="17830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4617720" y="2496312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17720" y="2834640"/>
            <a:ext cx="31546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(write-path) vs post-process (background). Trade latency vs. space.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75320" y="2331720"/>
            <a:ext cx="3611880" cy="17830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6" name="Text 14"/>
          <p:cNvSpPr/>
          <p:nvPr/>
        </p:nvSpPr>
        <p:spPr>
          <a:xfrm>
            <a:off x="8503920" y="2496312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503920" y="2834640"/>
            <a:ext cx="31546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Source-side vs target-side; also DB layer vs storage layer.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" y="4389120"/>
            <a:ext cx="3611880" cy="17830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9" name="Text 17"/>
          <p:cNvSpPr/>
          <p:nvPr/>
        </p:nvSpPr>
        <p:spPr>
          <a:xfrm>
            <a:off x="731520" y="4553712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Indexing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31520" y="4892040"/>
            <a:ext cx="31546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index vs sparse / sampled index; locality-aware caching.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89120" y="4389120"/>
            <a:ext cx="3611880" cy="17830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2" name="Text 20"/>
          <p:cNvSpPr/>
          <p:nvPr/>
        </p:nvSpPr>
        <p:spPr>
          <a:xfrm>
            <a:off x="4617720" y="4553712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 fit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617720" y="4892040"/>
            <a:ext cx="31546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Backups (high redundancy) vs primary workloads (latency, fragmentation constraints).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275320" y="4389120"/>
            <a:ext cx="3611880" cy="17830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5" name="Text 23"/>
          <p:cNvSpPr/>
          <p:nvPr/>
        </p:nvSpPr>
        <p:spPr>
          <a:xfrm>
            <a:off x="8503920" y="4553712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503920" y="4892040"/>
            <a:ext cx="31546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data reduces dedup effectiveness; global dedup can create side-channels.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411480" y="109728"/>
            <a:ext cx="8183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Deduplication — Interim Presentation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732520" y="146304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749808"/>
            <a:ext cx="2834640" cy="347472"/>
          </a:xfrm>
          <a:prstGeom prst="round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612648" y="804672"/>
            <a:ext cx="26151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Why it works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234440"/>
            <a:ext cx="11338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Milestones that shaped modern deduplication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02920" y="1719072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quick lineage: similarity detection → content-addressing → high-throughput indexing → primary-storage constraints.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14400" y="3063240"/>
            <a:ext cx="1033272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Shape 8"/>
          <p:cNvSpPr/>
          <p:nvPr/>
        </p:nvSpPr>
        <p:spPr>
          <a:xfrm>
            <a:off x="1188720" y="2898648"/>
            <a:ext cx="292608" cy="292608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868680" y="2514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2001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335024" y="2898648"/>
            <a:ext cx="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Shape 11"/>
          <p:cNvSpPr/>
          <p:nvPr/>
        </p:nvSpPr>
        <p:spPr>
          <a:xfrm>
            <a:off x="411480" y="2057400"/>
            <a:ext cx="1554480" cy="77724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438912" y="2121408"/>
            <a:ext cx="149961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LBFS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(similarity, chunking)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017520" y="2898648"/>
            <a:ext cx="292608" cy="292608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" name="Text 14"/>
          <p:cNvSpPr/>
          <p:nvPr/>
        </p:nvSpPr>
        <p:spPr>
          <a:xfrm>
            <a:off x="2697480" y="2514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2002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163824" y="3191256"/>
            <a:ext cx="0" cy="50292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Shape 16"/>
          <p:cNvSpPr/>
          <p:nvPr/>
        </p:nvSpPr>
        <p:spPr>
          <a:xfrm>
            <a:off x="2240280" y="3246120"/>
            <a:ext cx="1554480" cy="77724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9" name="Text 17"/>
          <p:cNvSpPr/>
          <p:nvPr/>
        </p:nvSpPr>
        <p:spPr>
          <a:xfrm>
            <a:off x="2267712" y="3310128"/>
            <a:ext cx="149961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Venti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(content-addressed)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120640" y="2898648"/>
            <a:ext cx="292608" cy="292608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" name="Text 19"/>
          <p:cNvSpPr/>
          <p:nvPr/>
        </p:nvSpPr>
        <p:spPr>
          <a:xfrm>
            <a:off x="4800600" y="2514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2008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266944" y="2898648"/>
            <a:ext cx="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3" name="Shape 21"/>
          <p:cNvSpPr/>
          <p:nvPr/>
        </p:nvSpPr>
        <p:spPr>
          <a:xfrm>
            <a:off x="4343400" y="2057400"/>
            <a:ext cx="1554480" cy="77724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4" name="Text 22"/>
          <p:cNvSpPr/>
          <p:nvPr/>
        </p:nvSpPr>
        <p:spPr>
          <a:xfrm>
            <a:off x="4370832" y="2121408"/>
            <a:ext cx="149961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DDFS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(avoid disk bottleneck)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858000" y="2898648"/>
            <a:ext cx="292608" cy="292608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6" name="Text 24"/>
          <p:cNvSpPr/>
          <p:nvPr/>
        </p:nvSpPr>
        <p:spPr>
          <a:xfrm>
            <a:off x="6537960" y="2514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2009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004304" y="3191256"/>
            <a:ext cx="0" cy="50292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8" name="Shape 26"/>
          <p:cNvSpPr/>
          <p:nvPr/>
        </p:nvSpPr>
        <p:spPr>
          <a:xfrm>
            <a:off x="6080760" y="3246120"/>
            <a:ext cx="1554480" cy="77724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9" name="Text 27"/>
          <p:cNvSpPr/>
          <p:nvPr/>
        </p:nvSpPr>
        <p:spPr>
          <a:xfrm>
            <a:off x="6108192" y="3310128"/>
            <a:ext cx="149961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Indexing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(sample + locality)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595360" y="2898648"/>
            <a:ext cx="292608" cy="292608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1" name="Text 29"/>
          <p:cNvSpPr/>
          <p:nvPr/>
        </p:nvSpPr>
        <p:spPr>
          <a:xfrm>
            <a:off x="8275320" y="2514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2012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741664" y="2898648"/>
            <a:ext cx="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3" name="Shape 31"/>
          <p:cNvSpPr/>
          <p:nvPr/>
        </p:nvSpPr>
        <p:spPr>
          <a:xfrm>
            <a:off x="7818120" y="2057400"/>
            <a:ext cx="1554480" cy="77724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4" name="Text 32"/>
          <p:cNvSpPr/>
          <p:nvPr/>
        </p:nvSpPr>
        <p:spPr>
          <a:xfrm>
            <a:off x="7845552" y="2121408"/>
            <a:ext cx="149961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iDedup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(primary-storage safe)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10149840" y="2898648"/>
            <a:ext cx="292608" cy="292608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6" name="Text 34"/>
          <p:cNvSpPr/>
          <p:nvPr/>
        </p:nvSpPr>
        <p:spPr>
          <a:xfrm>
            <a:off x="9829800" y="2514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10296144" y="3191256"/>
            <a:ext cx="0" cy="50292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8" name="Shape 36"/>
          <p:cNvSpPr/>
          <p:nvPr/>
        </p:nvSpPr>
        <p:spPr>
          <a:xfrm>
            <a:off x="9372600" y="3246120"/>
            <a:ext cx="1554480" cy="77724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9" name="Text 37"/>
          <p:cNvSpPr/>
          <p:nvPr/>
        </p:nvSpPr>
        <p:spPr>
          <a:xfrm>
            <a:off x="9400032" y="3310128"/>
            <a:ext cx="149961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FastCDC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(faster CDC)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02920" y="4892040"/>
            <a:ext cx="11338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achieving dedup at scale is an indexing + locality problem; primary workloads add fragmentation/latency constraints.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411480" y="109728"/>
            <a:ext cx="8183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Deduplication — Interim Presentation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732520" y="146304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lives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749808"/>
            <a:ext cx="2834640" cy="347472"/>
          </a:xfrm>
          <a:prstGeom prst="round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612648" y="804672"/>
            <a:ext cx="26151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Where to measure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234440"/>
            <a:ext cx="11338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can deduplication actually occur?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02920" y="1719072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measurement distinguishes “logical bytes” (reported by the system) from “physical bytes” (Longhorn replicas).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097280" y="2377440"/>
            <a:ext cx="5303520" cy="594360"/>
          </a:xfrm>
          <a:prstGeom prst="rect">
            <a:avLst/>
          </a:prstGeom>
          <a:solidFill>
            <a:srgbClr val="DBEAF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1280160" y="2487168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/ client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1097280" y="2971800"/>
            <a:ext cx="5303520" cy="594360"/>
          </a:xfrm>
          <a:prstGeom prst="rect">
            <a:avLst/>
          </a:prstGeom>
          <a:solidFill>
            <a:srgbClr val="E0E7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1280160" y="3081528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engine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(PostgreSQL, MariaDB, ClickHouse, CockroachDB)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1097280" y="3566160"/>
            <a:ext cx="5303520" cy="594360"/>
          </a:xfrm>
          <a:prstGeom prst="rect">
            <a:avLst/>
          </a:prstGeom>
          <a:solidFill>
            <a:srgbClr val="E0F2F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1280160" y="3675888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/ object systems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(Kafka, MinIO)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1097280" y="4160520"/>
            <a:ext cx="5303520" cy="594360"/>
          </a:xfrm>
          <a:prstGeom prst="rect">
            <a:avLst/>
          </a:prstGeom>
          <a:solidFill>
            <a:srgbClr val="ECFCC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" name="Text 14"/>
          <p:cNvSpPr/>
          <p:nvPr/>
        </p:nvSpPr>
        <p:spPr>
          <a:xfrm>
            <a:off x="1280160" y="4270248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Filesystem inside container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1097280" y="4754880"/>
            <a:ext cx="5303520" cy="594360"/>
          </a:xfrm>
          <a:prstGeom prst="rect">
            <a:avLst/>
          </a:prstGeom>
          <a:solidFill>
            <a:srgbClr val="FEF3C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1280160" y="4864608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storage layer (Longhorn)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1097280" y="5349240"/>
            <a:ext cx="5303520" cy="59436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" name="Text 18"/>
          <p:cNvSpPr/>
          <p:nvPr/>
        </p:nvSpPr>
        <p:spPr>
          <a:xfrm>
            <a:off x="1280160" y="5458968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disks (4 workers)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949440" y="2606040"/>
            <a:ext cx="548640" cy="2651760"/>
          </a:xfrm>
          <a:prstGeom prst="downArrow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2" name="Text 20"/>
          <p:cNvSpPr/>
          <p:nvPr/>
        </p:nvSpPr>
        <p:spPr>
          <a:xfrm>
            <a:off x="7589520" y="251460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both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635240" y="2926080"/>
            <a:ext cx="4389120" cy="12966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5580" indent="-19558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size (DB/table/topic/bucket counters)</a:t>
            </a:r>
            <a:endParaRPr lang="en-US" sz="1400" dirty="0"/>
          </a:p>
          <a:p>
            <a:pPr marL="195580" indent="-19558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size (Longhorn “actual size” per replica)</a:t>
            </a:r>
            <a:endParaRPr lang="en-US" sz="1400" dirty="0"/>
          </a:p>
          <a:p>
            <a:pPr marL="195580" indent="-19558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 factor N=4 → normalize</a:t>
            </a:r>
            <a:endParaRPr lang="en-US" sz="1400" dirty="0"/>
          </a:p>
          <a:p>
            <a:pPr marL="195580" indent="-19558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deletes: run compaction/vacuum + discard/TRIM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411480" y="109728"/>
            <a:ext cx="8183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Deduplication — Interim Presentation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732520" y="146304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setup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749808"/>
            <a:ext cx="2834640" cy="347472"/>
          </a:xfrm>
          <a:prstGeom prst="round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612648" y="804672"/>
            <a:ext cx="26151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Testbed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234440"/>
            <a:ext cx="11338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testbed (Kubernetes + Longhorn)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02920" y="1719072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worker nodes · Longhorn StorageClass · per-system PVC = 100 GiB · replica count N=4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2331720"/>
            <a:ext cx="2651760" cy="201168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502920" y="244144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1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2960" y="2834640"/>
            <a:ext cx="2011680" cy="502920"/>
          </a:xfrm>
          <a:prstGeom prst="rect">
            <a:avLst/>
          </a:prstGeom>
          <a:solidFill>
            <a:srgbClr val="DBEAF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822960" y="294436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Pod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" y="3429000"/>
            <a:ext cx="2011680" cy="731520"/>
          </a:xfrm>
          <a:prstGeom prst="rect">
            <a:avLst/>
          </a:prstGeom>
          <a:solidFill>
            <a:srgbClr val="FEF3C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822960" y="34747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Longhorn replica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(blocks)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383280" y="2331720"/>
            <a:ext cx="2651760" cy="201168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" name="Text 14"/>
          <p:cNvSpPr/>
          <p:nvPr/>
        </p:nvSpPr>
        <p:spPr>
          <a:xfrm>
            <a:off x="3383280" y="244144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2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703320" y="2834640"/>
            <a:ext cx="2011680" cy="502920"/>
          </a:xfrm>
          <a:prstGeom prst="rect">
            <a:avLst/>
          </a:prstGeom>
          <a:solidFill>
            <a:srgbClr val="DBEAF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3703320" y="294436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Pod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703320" y="3429000"/>
            <a:ext cx="2011680" cy="731520"/>
          </a:xfrm>
          <a:prstGeom prst="rect">
            <a:avLst/>
          </a:prstGeom>
          <a:solidFill>
            <a:srgbClr val="FEF3C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" name="Text 18"/>
          <p:cNvSpPr/>
          <p:nvPr/>
        </p:nvSpPr>
        <p:spPr>
          <a:xfrm>
            <a:off x="3703320" y="34747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Longhorn replica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(blocks)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63640" y="2331720"/>
            <a:ext cx="2651760" cy="201168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2" name="Text 20"/>
          <p:cNvSpPr/>
          <p:nvPr/>
        </p:nvSpPr>
        <p:spPr>
          <a:xfrm>
            <a:off x="6263640" y="244144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583680" y="2834640"/>
            <a:ext cx="2011680" cy="502920"/>
          </a:xfrm>
          <a:prstGeom prst="rect">
            <a:avLst/>
          </a:prstGeom>
          <a:solidFill>
            <a:srgbClr val="DBEAF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4" name="Text 22"/>
          <p:cNvSpPr/>
          <p:nvPr/>
        </p:nvSpPr>
        <p:spPr>
          <a:xfrm>
            <a:off x="6583680" y="294436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Pod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583680" y="3429000"/>
            <a:ext cx="2011680" cy="731520"/>
          </a:xfrm>
          <a:prstGeom prst="rect">
            <a:avLst/>
          </a:prstGeom>
          <a:solidFill>
            <a:srgbClr val="FEF3C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6" name="Text 24"/>
          <p:cNvSpPr/>
          <p:nvPr/>
        </p:nvSpPr>
        <p:spPr>
          <a:xfrm>
            <a:off x="6583680" y="34747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Longhorn replica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(blocks)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9144000" y="2331720"/>
            <a:ext cx="2651760" cy="201168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8" name="Text 26"/>
          <p:cNvSpPr/>
          <p:nvPr/>
        </p:nvSpPr>
        <p:spPr>
          <a:xfrm>
            <a:off x="9144000" y="244144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4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9464040" y="2834640"/>
            <a:ext cx="2011680" cy="502920"/>
          </a:xfrm>
          <a:prstGeom prst="rect">
            <a:avLst/>
          </a:prstGeom>
          <a:solidFill>
            <a:srgbClr val="DBEAF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0" name="Text 28"/>
          <p:cNvSpPr/>
          <p:nvPr/>
        </p:nvSpPr>
        <p:spPr>
          <a:xfrm>
            <a:off x="9464040" y="294436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Pod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9464040" y="3429000"/>
            <a:ext cx="2011680" cy="731520"/>
          </a:xfrm>
          <a:prstGeom prst="rect">
            <a:avLst/>
          </a:prstGeom>
          <a:solidFill>
            <a:srgbClr val="FEF3C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2" name="Text 30"/>
          <p:cNvSpPr/>
          <p:nvPr/>
        </p:nvSpPr>
        <p:spPr>
          <a:xfrm>
            <a:off x="9464040" y="34747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Longhorn replica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(blocks)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31520" y="4526280"/>
            <a:ext cx="11338560" cy="6858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4" name="Text 32"/>
          <p:cNvSpPr/>
          <p:nvPr/>
        </p:nvSpPr>
        <p:spPr>
          <a:xfrm>
            <a:off x="868680" y="468172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database gets a dedicated Longhorn volume: 100 GiB PVC, replicated synchronously to 4 nodes (N=4).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411480" y="109728"/>
            <a:ext cx="8183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Deduplication — Interim Presentation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732520" y="146304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749808"/>
            <a:ext cx="2834640" cy="347472"/>
          </a:xfrm>
          <a:prstGeom prst="round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612648" y="804672"/>
            <a:ext cx="26151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Systems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234440"/>
            <a:ext cx="11338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under test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02920" y="1719072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compare “classic SQL”, streaming, and object storage behaviors under identical duplication workloads.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2331720"/>
            <a:ext cx="5669280" cy="356616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731520" y="2496312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2834640"/>
            <a:ext cx="5212080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(row-store SQL)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MariaDB (row-store SQL; compression options)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ClickHouse (column-store OLAP; heavy compression)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CockroachDB (distributed SQL; replication at DB layer)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55080" y="2331720"/>
            <a:ext cx="5833872" cy="356616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6583680" y="2496312"/>
            <a:ext cx="5376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/ Object storage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583680" y="2834640"/>
            <a:ext cx="5376672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Kafka (log segments; delete vs compact policy)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MinIO (S3 object store; explicitly no dedup by design)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Redcomponent-DB (new system — empirical baseline)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411480" y="109728"/>
            <a:ext cx="8183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Deduplication — Interim Presentation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732520" y="146304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749808"/>
            <a:ext cx="2834640" cy="347472"/>
          </a:xfrm>
          <a:prstGeom prst="round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612648" y="804672"/>
            <a:ext cx="26151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Workloads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234440"/>
            <a:ext cx="11338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 datasets &amp; payload types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02920" y="1719072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Focus: payloads that can be duplicated byte-identically to isolate deduplication from compression.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2240280"/>
            <a:ext cx="6492240" cy="448056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731520" y="2404872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families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2743200"/>
            <a:ext cx="603504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(SQL-friendly)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timestamps (monotonic)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random numerics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strings / VARCHAR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UUID (high entropy)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JSON/JSONB (semi-structured)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objects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Images (NASA)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Video (Blender Open Movies)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Full text (Project Gutenberg)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available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GitHub logs · bank transactions · synthetic random numbers</a:t>
            </a:r>
            <a:endParaRPr lang="en-US" sz="1200" dirty="0"/>
          </a:p>
        </p:txBody>
      </p:sp>
      <p:pic>
        <p:nvPicPr>
          <p:cNvPr id="12" name="Image 0" descr="/mnt/data/img_hudf.jpg"/>
          <p:cNvPicPr>
            <a:picLocks noChangeAspect="1"/>
          </p:cNvPicPr>
          <p:nvPr/>
        </p:nvPicPr>
        <p:blipFill>
          <a:blip r:embed="rId3"/>
          <a:srcRect t="27901" b="27901"/>
          <a:stretch/>
        </p:blipFill>
        <p:spPr>
          <a:xfrm>
            <a:off x="7223760" y="2240280"/>
            <a:ext cx="4965192" cy="219456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223760" y="4443984"/>
            <a:ext cx="4965192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NASA imagery (example)</a:t>
            </a:r>
            <a:endParaRPr lang="en-US" sz="1100" dirty="0"/>
          </a:p>
        </p:txBody>
      </p:sp>
      <p:pic>
        <p:nvPicPr>
          <p:cNvPr id="14" name="Image 1" descr="/mnt/data/img_bbb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60137" y="4617720"/>
            <a:ext cx="1292438" cy="18288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223760" y="6510528"/>
            <a:ext cx="49651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movie (example)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411480" y="109728"/>
            <a:ext cx="8183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Deduplication — Interim Presentation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732520" y="146304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749808"/>
            <a:ext cx="2834640" cy="347472"/>
          </a:xfrm>
          <a:prstGeom prst="round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612648" y="804672"/>
            <a:ext cx="26151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Procedure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234440"/>
            <a:ext cx="11338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procedure (what we will run)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02920" y="1719072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stages × three duplication levels (U0/U50/U90) × payload families × systems.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2286000"/>
            <a:ext cx="10972800" cy="59436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914400" y="2432304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Duplication levels:  U0 (unique)  ·  U50 (50% duplicates)  ·  U90 (90% duplicates)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3154680"/>
            <a:ext cx="3246120" cy="210312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685800" y="3337560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load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4023360"/>
            <a:ext cx="2788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“Natural” schema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COPY/LOAD, producer, S3 put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T_bulk + Longhorn size Δ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26280" y="3154680"/>
            <a:ext cx="3246120" cy="210312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/>
          <p:nvPr/>
        </p:nvSpPr>
        <p:spPr>
          <a:xfrm>
            <a:off x="4526280" y="3337560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Per-file insert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754880" y="4023360"/>
            <a:ext cx="2788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file = one row/object/message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latency + throughput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EDR (logical vs physical)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366760" y="3154680"/>
            <a:ext cx="3246120" cy="210312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8366760" y="3337560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Per-file delete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595360" y="4023360"/>
            <a:ext cx="2788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one by one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maintenance: vacuum/compaction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size reclamation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023360" y="3886200"/>
            <a:ext cx="411480" cy="457200"/>
          </a:xfrm>
          <a:prstGeom prst="rightArrow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" name="Shape 19"/>
          <p:cNvSpPr/>
          <p:nvPr/>
        </p:nvSpPr>
        <p:spPr>
          <a:xfrm>
            <a:off x="7863840" y="3886200"/>
            <a:ext cx="411480" cy="457200"/>
          </a:xfrm>
          <a:prstGeom prst="rightArrow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2" name="Shape 20"/>
          <p:cNvSpPr/>
          <p:nvPr/>
        </p:nvSpPr>
        <p:spPr>
          <a:xfrm>
            <a:off x="502920" y="5532120"/>
            <a:ext cx="11521440" cy="10972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3" name="Text 21"/>
          <p:cNvSpPr/>
          <p:nvPr/>
        </p:nvSpPr>
        <p:spPr>
          <a:xfrm>
            <a:off x="731520" y="569671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Measurements captured at each step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31520" y="603504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time / throughput · logical bytes written · Longhorn “actual size” per replica · normalized physical bytes (÷N) · effective dedup ratio (EDR) · post-delete reclamation time/amount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411480" y="109728"/>
            <a:ext cx="8183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Deduplication — Interim Presentation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732520" y="146304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749808"/>
            <a:ext cx="2834640" cy="347472"/>
          </a:xfrm>
          <a:prstGeom prst="round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612648" y="804672"/>
            <a:ext cx="26151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Metrics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234440"/>
            <a:ext cx="11338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quantify deduplication vs. “just compression”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02920" y="1719072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normalize the Longhorn replica footprint and compare it to logical bytes written.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2331720"/>
            <a:ext cx="5715000" cy="196596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731520" y="2496312"/>
            <a:ext cx="5257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metric (EDR)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2834640"/>
            <a:ext cx="5257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EDR = B_logical / (B_phys / N)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B_logical = sum(payload bytes)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B_phys = Longhorn actual size (sum over replicas)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replica count (=4)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Interpretation: EDR ≈ 1 → no dedup (beyond replication/compression). EDR &gt; 1 → storage-layer reuse of identical content.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4480560"/>
            <a:ext cx="5715000" cy="205740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731520" y="4645152"/>
            <a:ext cx="5257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post-delete note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4983480"/>
            <a:ext cx="5257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storage does not automatically shrink on deletes. After Stage 3, we must trigger: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DB maintenance (VACUUM FULL / OPTIMIZE / compaction)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filesystem discard/TRIM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…otherwise physical size may not reflect reclaimed free space.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92240" y="233172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expectation (not measured yet)</a:t>
            </a:r>
            <a:endParaRPr lang="en-US" sz="1400" dirty="0"/>
          </a:p>
        </p:txBody>
      </p:sp>
      <p:graphicFrame>
        <p:nvGraphicFramePr>
          <p:cNvPr id="16" name="Chart 0"/>
          <p:cNvGraphicFramePr/>
          <p:nvPr/>
        </p:nvGraphicFramePr>
        <p:xfrm>
          <a:off x="6492240" y="2697480"/>
          <a:ext cx="5669280" cy="2423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7" name="Text 14"/>
          <p:cNvSpPr/>
          <p:nvPr/>
        </p:nvSpPr>
        <p:spPr>
          <a:xfrm>
            <a:off x="6492240" y="5212080"/>
            <a:ext cx="5669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dedup is present: EDR increases with duplication.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only compression: EDR stays ~flat across U0/U50/U90.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411480" y="109728"/>
            <a:ext cx="8183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Deduplication — Interim Presentation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732520" y="146304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749808"/>
            <a:ext cx="2834640" cy="347472"/>
          </a:xfrm>
          <a:prstGeom prst="round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612648" y="804672"/>
            <a:ext cx="26151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Next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234440"/>
            <a:ext cx="11338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Interim conclusions &amp; next steps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02920" y="2148840"/>
            <a:ext cx="11686032" cy="187452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731520" y="2313432"/>
            <a:ext cx="11228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will be able to answer empirically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2651760"/>
            <a:ext cx="1122883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Is there any dedup effect in the tested stacks, and at which layer?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How does duplication level (U0/U50/U90) change physical growth and ingest throughput?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How do deletes behave (space reclamation latency + amount)?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4206240"/>
            <a:ext cx="5669280" cy="219456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731520" y="4370832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next steps (this week)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" y="4709160"/>
            <a:ext cx="521208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Finalize dataset list + fixed IDs/URLs (NASA, Blender, Gutenberg)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Implement loaders for each system (bulk + per-file)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Define common measurement harness (timestamps + Longhorn metrics snapshot)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Dry run on one DB (PostgreSQL) to validate the pipeline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355080" y="4206240"/>
            <a:ext cx="5833872" cy="219456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/>
          <p:nvPr/>
        </p:nvSpPr>
        <p:spPr>
          <a:xfrm>
            <a:off x="6583680" y="4370832"/>
            <a:ext cx="5376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/ controls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583680" y="4709160"/>
            <a:ext cx="5376672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Storage may not shrink after deletes without compaction/TRIM (control step mandatory).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Kafka “delete vs compact” changes semantics — treat as separate configs.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MinIO explicitly does not implement dedup → baseline for “no dedup”.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" y="6492240"/>
            <a:ext cx="116860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questions?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2449</Words>
  <Application>Microsoft Office PowerPoint</Application>
  <PresentationFormat>Breitbild</PresentationFormat>
  <Paragraphs>245</Paragraphs>
  <Slides>12</Slides>
  <Notes>12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Benjamin-Elias Probst</dc:creator>
  <cp:lastModifiedBy>Benjamin-Elias Probst</cp:lastModifiedBy>
  <cp:revision>1</cp:revision>
  <dcterms:created xsi:type="dcterms:W3CDTF">2026-01-27T22:25:25Z</dcterms:created>
  <dcterms:modified xsi:type="dcterms:W3CDTF">2026-01-28T15:41:42Z</dcterms:modified>
</cp:coreProperties>
</file>